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6" r:id="rId10"/>
    <p:sldId id="267" r:id="rId11"/>
    <p:sldId id="264" r:id="rId12"/>
    <p:sldId id="265"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651" autoAdjust="0"/>
    <p:restoredTop sz="94610"/>
  </p:normalViewPr>
  <p:slideViewPr>
    <p:cSldViewPr snapToGrid="0" snapToObjects="1">
      <p:cViewPr varScale="1">
        <p:scale>
          <a:sx n="82" d="100"/>
          <a:sy n="82" d="100"/>
        </p:scale>
        <p:origin x="87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20672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ENTRA INTEGRANTE 1 · ⏱ 0:00–0:15 Buenos días. Somos el Grupo Delta y hoy les vamos a presentar Gradle, una herramienta de automatización de builds. La idea es mostrar qué problema resuelve y, sobre todo, qué tiene que ver con lo que vimos en Paradigmas de Programación. Más adelante hacemos una demo en vivo.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0:15–1:30 Cuando un proyecto crece hay que compilar, probar y empaquetar muchas veces, y el resultado tiene que ser el mismo en cualquier máquina. Hacerlo a mano no escala y no se repite igual. Una herramienta de build automatiza todo eso. Con Gradle alcanza un solo comando: «./gradlew build».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ENTRA INTEGRANTE 2 · ⏱ 1:30–2:10 Gradle no es un compilador: compilar lo hace javac. Gradle organiza el trabajo. Cada paso es una tarea, y las tareas forman un grafo de dependencias. Acá vemos una versión simplificada de lo que arma «build»: compilar, empaquetar, compilar los tests, correrlos. Gradle calcula el orden y ejecuta cada tarea.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2:10–3:00 Todo build pasa por tres fases. Inicialización: se lee settings.gradle y se crean los objetos Project. Configuración: se lee build.gradle, se registran las tareas y se arma el grafo, pero todavía no se ejecuta nada. Ejecución: se corren las tareas elegidas. Importante: el código del cuerpo de build.gradle corre siempre; el de doLast, solo si la tarea corre. Esto lo vamos a ver en la demo.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ENTRA INTEGRANTE 3 · ⏱ 3:00–3:25 Y acá viene lo que conecta Gradle con la materia. El build no es un archivo de configuración: es un modelo de objetos. Settings, Project y Task son objetos. Cuando escribimos «repositories» en build.gradle, no es una palabra clave: es un mensaje que le mandamos al objeto Project.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3:25–3:50 Los plugins son el segundo punto. Todo plugin implementa una interfaz: Plugin de T, con un único método, apply. Gradle trabaja contra esa interfaz y no conoce a cada plugin: eso es polimorfismo. Y es el principio abierto/cerrado: se pueden agregar plugins nuevos sin modificar el núcleo de Gradle.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3:50–4:10 Tercer punto: herencia. Cuando queremos una tarea propia, escribimos una clase que extiende DefaultTask y marcamos con @TaskAction el método que se ejecuta. Es exactamente lo que vimos en clase, aplicado a un build. Esta tarea, infoProyecto, la vamos a correr en la demo. (Ojo: el código está recortado a propósito, el completo está en el informe.)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4:10–4:30 Último punto del paradigma. Maven describe todo en XML: es declarativo puro. Gradle usa Groovy o Kotlin, lenguajes de objetos: es declarativo la mayor parte del tiempo, pero cuando hace falta puede bajar a código imperativo. Esa es la flexibilidad, y también el riesgo. Además aplica convención sobre configuración: el código va en src/main/java y los tests en src/test/java. Ahora lo vemos funcionando.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ENTRA INTEGRANTE 5 · ⏱ 8:00–9:00 Volvemos a las slides. Gradle y Maven hacen lo mismo: compilar, gestionar dependencias, probar, empaquetar y publicar. La diferencia es el enfoque. Esta es la misma dependencia: en Maven son cinco líneas de XML; en Gradle, una sola línea (en la slide se corta en dos solo por el ancho). No hay una herramienta mejor en general. Maven conviene cuando el proyecto sigue un esquema estándar y se quiere uniformidad. Gradle, cuando el build necesita lógica propia, el proyecto es grande o el rendimiento importa. Si preguntan por más diferencias (tabla del informe): - Lenguaje: Groovy o Kotlin / XML - Paradigma: declarativo con descenso a imperativo / declarativo - Verbosidad: baja / alta - Flexibilidad: alta / media (requiere plugins) - Convenciones: fuertes y configurables / muy fuertes y rígidas - Incremental y cache: nativos / limitados, dependen de plugins - Curva de aprendizaje: mayor / menor - Wrapper: Gradle Wrapper / Maven Wrapper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ENTRA INTEGRANTE 6 · ⏱ 9:00–9:25 Para cerrar, el balance. Ventajas: rendimiento, gracias a los builds incrementales, la cache y el daemon; flexibilidad; reproducibilidad con el Wrapper; manejo expresivo de dependencias; y un gran ecosistema de plugins. Limitaciones: curva de aprendizaje, builds que pueden volverse difíciles de mantener, es demasiado para proyectos chicos, cuesta migrar entre versiones mayores y el chequeo estático en Groovy es más débil. Y todo sale del mismo lugar: en Gradle el build es código.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ENTRA INTEGRANTE 4 · ⏱ 4:30–8:00 Esta slide se muestra menos de 5 segundos: decir «vamos a verlo funcionando» y pasar a Eclipse. La demo tiene que terminar a las 8:00. Pasos del GUION-DEMO (sin el paso opcional suman 3:20, para una ventana de 3:30): 1. build.gradle (30 s) 2. Correr build (40 s) 3. Las tres fases en Gradle Executions (30 s) 4. Build incremental (30 s) 5. Reporte HTML de tests (30 s) 6. Test que falla: OPCIONAL (40 s), conviene saltearlo 7. Tarea propia infoProyecto (40 s): nunca se recorta, es la que conecta con la materia. Plan B si falla algo: capturas de pantalla.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4:30–4:40, luego Eclipse Se muestra unos segundos como agenda y se cambia a Eclipse. Durante la demo la pantalla queda en Eclipse; estos seis títulos son el orden en que se va narrando: 1. El build script: build.gradle, los cuatro bloques. 2. Una tarea, todo el grafo: correr «build» y ver cómo se ejecutan las tareas previas. 3. Las tres fases: en la vista Gradle Executions. 4. Build incremental: la segunda corrida sale UP-TO-DATE. El guion cita «4,7 segundos contra casi cero»; confirmar el número el día de la exposición. 5. Reporte de tests: 5 tests, 0 fallos. 6. Una tarea propia: infoProyecto. Muestra «Tareas: 39 registradas en el objeto Project» y cierra la idea de que el build son objetos. El test que falla (paso opcional del guion) se saltea si hay poco tiempo.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9:25–9:50 Tres conclusiones. Primera: el aporte central de Gradle es la reproducibilidad; el mismo build en cualquier máquina, gracias al Wrapper. Segunda: su diseño es una aplicación directa de la programación orientada a objetos: objetos, interfaces, herencia. Tercera: sus ventajas y sus limitaciones tienen el mismo origen, que el build es código. Por eso es potente y por eso exige disciplina.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9:50–10:00 Eso es todo de nuestra parte. Gracias por escucharnos; quedamos a disposición para las preguntas (2 minutos). Preguntas probables y dónde está la respuesta: - Maven vs. Gradle: slide 11. - ¿Dónde corre el código de build.gradle? Cuerpo: en configuración, siempre. doLast: en ejecución, solo si la tarea corre (slide 4). - Conflicto de versiones: Gradle elige la más alta. - api vs. implementation: encapsulamiento aplicado al build; implementation no es visible para quien consume la librería. - ¿Para qué sirve el Wrapper? Fija la versión de Gradle: nadie tiene que instalarlo. - Groovy vs. Kotlin: misma idea; Kotlin tiene tipado estático y mejor chequeo en el IDE. - Gradle vs. javac: Gradle orquesta, javac compila (slide 3). - Integración con Eclipse: Buildship.</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7F9"/>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61"/>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14213D"/>
                </a:solidFill>
                <a:latin typeface="DM Sans" pitchFamily="34" charset="0"/>
                <a:ea typeface="DM Sans" pitchFamily="34" charset="-122"/>
                <a:cs typeface="DM San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10081"/>
            <a:ext cx="10566400" cy="4135119"/>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7F9"/>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61"/>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14213D"/>
                </a:solidFill>
                <a:latin typeface="DM Sans" pitchFamily="34" charset="0"/>
                <a:ea typeface="DM Sans" pitchFamily="34" charset="-122"/>
                <a:cs typeface="DM San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910081"/>
            <a:ext cx="10566400" cy="4135119"/>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7FE0D2"/>
                </a:solidFill>
                <a:latin typeface="DM Sans" pitchFamily="34" charset="0"/>
                <a:ea typeface="DM Sans" pitchFamily="34" charset="-122"/>
                <a:cs typeface="DM Sans" pitchFamily="34" charset="-120"/>
              </a:rPr>
              <a:t>PARADIGMAS DE PROGRAMACIÓN · UNLAM</a:t>
            </a:r>
            <a:endParaRPr lang="en-US" sz="1400" dirty="0"/>
          </a:p>
        </p:txBody>
      </p:sp>
      <p:sp>
        <p:nvSpPr>
          <p:cNvPr id="3" name="Text 1"/>
          <p:cNvSpPr>
            <a:spLocks noGrp="1"/>
          </p:cNvSpPr>
          <p:nvPr>
            <p:ph type="title"/>
          </p:nvPr>
        </p:nvSpPr>
        <p:spPr>
          <a:xfrm>
            <a:off x="812800" y="2352040"/>
            <a:ext cx="10883392" cy="1092200"/>
          </a:xfrm>
          <a:prstGeom prst="rect">
            <a:avLst/>
          </a:prstGeom>
          <a:noFill/>
          <a:ln/>
        </p:spPr>
        <p:txBody>
          <a:bodyPr wrap="square" lIns="0" tIns="0" rIns="0" bIns="0" rtlCol="0" anchor="t">
            <a:normAutofit/>
          </a:bodyPr>
          <a:lstStyle/>
          <a:p>
            <a:pPr marL="0" indent="0" algn="l">
              <a:lnSpc>
                <a:spcPts val="8400"/>
              </a:lnSpc>
              <a:buNone/>
            </a:pPr>
            <a:r>
              <a:rPr lang="en-US" sz="8000" b="1" i="0" dirty="0">
                <a:solidFill>
                  <a:srgbClr val="F6F7F9"/>
                </a:solidFill>
                <a:latin typeface="DM Sans" pitchFamily="34" charset="0"/>
                <a:ea typeface="DM Sans" pitchFamily="34" charset="-122"/>
                <a:cs typeface="DM Sans" pitchFamily="34" charset="-120"/>
              </a:rPr>
              <a:t>Gradle</a:t>
            </a:r>
            <a:endParaRPr lang="en-US" sz="8000" dirty="0"/>
          </a:p>
        </p:txBody>
      </p:sp>
      <p:sp>
        <p:nvSpPr>
          <p:cNvPr id="4" name="Shape 2"/>
          <p:cNvSpPr/>
          <p:nvPr/>
        </p:nvSpPr>
        <p:spPr>
          <a:xfrm>
            <a:off x="812800" y="3622040"/>
            <a:ext cx="1016000" cy="50800"/>
          </a:xfrm>
          <a:prstGeom prst="rect">
            <a:avLst/>
          </a:prstGeom>
          <a:solidFill>
            <a:srgbClr val="7FE0D2"/>
          </a:solidFill>
          <a:ln/>
        </p:spPr>
        <p:txBody>
          <a:bodyPr/>
          <a:lstStyle/>
          <a:p>
            <a:endParaRPr lang="es-AR"/>
          </a:p>
        </p:txBody>
      </p:sp>
      <p:sp>
        <p:nvSpPr>
          <p:cNvPr id="5" name="Text 3"/>
          <p:cNvSpPr/>
          <p:nvPr/>
        </p:nvSpPr>
        <p:spPr>
          <a:xfrm>
            <a:off x="812800" y="3876040"/>
            <a:ext cx="10883392" cy="416560"/>
          </a:xfrm>
          <a:prstGeom prst="rect">
            <a:avLst/>
          </a:prstGeom>
          <a:noFill/>
          <a:ln/>
        </p:spPr>
        <p:txBody>
          <a:bodyPr wrap="square" lIns="0" tIns="0" rIns="0" bIns="0" rtlCol="0" anchor="t">
            <a:normAutofit/>
          </a:bodyPr>
          <a:lstStyle/>
          <a:p>
            <a:pPr marL="0" indent="0" algn="l">
              <a:lnSpc>
                <a:spcPts val="3080"/>
              </a:lnSpc>
              <a:buNone/>
            </a:pPr>
            <a:r>
              <a:rPr lang="en-US" sz="2200" dirty="0">
                <a:solidFill>
                  <a:srgbClr val="C9D3E6"/>
                </a:solidFill>
                <a:latin typeface="DM Sans" pitchFamily="34" charset="0"/>
                <a:ea typeface="DM Sans" pitchFamily="34" charset="-122"/>
                <a:cs typeface="DM Sans" pitchFamily="34" charset="-120"/>
              </a:rPr>
              <a:t>El build es código</a:t>
            </a:r>
            <a:endParaRPr lang="en-US" sz="2200" dirty="0"/>
          </a:p>
        </p:txBody>
      </p:sp>
      <p:sp>
        <p:nvSpPr>
          <p:cNvPr id="6" name="Text 4"/>
          <p:cNvSpPr/>
          <p:nvPr/>
        </p:nvSpPr>
        <p:spPr>
          <a:xfrm>
            <a:off x="812800" y="5557520"/>
            <a:ext cx="1088339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D3E6"/>
                </a:solidFill>
                <a:latin typeface="DM Sans" pitchFamily="34" charset="0"/>
                <a:ea typeface="DM Sans" pitchFamily="34" charset="-122"/>
                <a:cs typeface="DM Sans" pitchFamily="34" charset="-120"/>
              </a:rPr>
              <a:t>Grupo Delta · 2.º cuatrimestre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9"/>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B7A75"/>
                </a:solidFill>
                <a:latin typeface="DM Sans" pitchFamily="34" charset="0"/>
                <a:ea typeface="DM Sans" pitchFamily="34" charset="-122"/>
                <a:cs typeface="DM Sans" pitchFamily="34" charset="-120"/>
              </a:rPr>
              <a:t>EL PROBLEMA</a:t>
            </a:r>
            <a:endParaRPr lang="en-US" sz="1200" dirty="0"/>
          </a:p>
        </p:txBody>
      </p:sp>
      <p:sp>
        <p:nvSpPr>
          <p:cNvPr id="3" name="Text 1"/>
          <p:cNvSpPr>
            <a:spLocks noGrp="1"/>
          </p:cNvSpPr>
          <p:nvPr>
            <p:ph type="title"/>
          </p:nvPr>
        </p:nvSpPr>
        <p:spPr>
          <a:xfrm>
            <a:off x="812800" y="110236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DM Sans" pitchFamily="34" charset="0"/>
                <a:ea typeface="DM Sans" pitchFamily="34" charset="-122"/>
                <a:cs typeface="DM Sans" pitchFamily="34" charset="-120"/>
              </a:rPr>
              <a:t>Construir software a mano no escala</a:t>
            </a:r>
            <a:endParaRPr lang="en-US" sz="3600" dirty="0"/>
          </a:p>
        </p:txBody>
      </p:sp>
      <p:sp>
        <p:nvSpPr>
          <p:cNvPr id="4" name="Shape 2"/>
          <p:cNvSpPr/>
          <p:nvPr/>
        </p:nvSpPr>
        <p:spPr>
          <a:xfrm>
            <a:off x="815975" y="2014855"/>
            <a:ext cx="3380264" cy="1487170"/>
          </a:xfrm>
          <a:prstGeom prst="roundRect">
            <a:avLst>
              <a:gd name="adj" fmla="val 6618"/>
            </a:avLst>
          </a:prstGeom>
          <a:solidFill>
            <a:srgbClr val="FCFCFD"/>
          </a:solidFill>
          <a:ln w="6350">
            <a:solidFill>
              <a:srgbClr val="DDE3EC"/>
            </a:solidFill>
            <a:prstDash val="solid"/>
          </a:ln>
        </p:spPr>
        <p:txBody>
          <a:bodyPr/>
          <a:lstStyle/>
          <a:p>
            <a:endParaRPr lang="es-AR"/>
          </a:p>
        </p:txBody>
      </p:sp>
      <p:sp>
        <p:nvSpPr>
          <p:cNvPr id="5" name="Text 3"/>
          <p:cNvSpPr/>
          <p:nvPr/>
        </p:nvSpPr>
        <p:spPr>
          <a:xfrm>
            <a:off x="1071880" y="2270760"/>
            <a:ext cx="295450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213D"/>
                </a:solidFill>
                <a:latin typeface="DM Sans" pitchFamily="34" charset="0"/>
                <a:ea typeface="DM Sans" pitchFamily="34" charset="-122"/>
                <a:cs typeface="DM Sans" pitchFamily="34" charset="-120"/>
              </a:rPr>
              <a:t>Escala</a:t>
            </a:r>
            <a:endParaRPr lang="en-US" sz="2000" dirty="0"/>
          </a:p>
        </p:txBody>
      </p:sp>
      <p:sp>
        <p:nvSpPr>
          <p:cNvPr id="6" name="Text 4"/>
          <p:cNvSpPr/>
          <p:nvPr/>
        </p:nvSpPr>
        <p:spPr>
          <a:xfrm>
            <a:off x="1071880" y="2677160"/>
            <a:ext cx="2954507"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4506A"/>
                </a:solidFill>
                <a:latin typeface="DM Sans" pitchFamily="34" charset="0"/>
                <a:ea typeface="DM Sans" pitchFamily="34" charset="-122"/>
                <a:cs typeface="DM Sans" pitchFamily="34" charset="-120"/>
              </a:rPr>
              <a:t>Muchas clases, librerías y pruebas que coordinar.</a:t>
            </a:r>
            <a:endParaRPr lang="en-US" sz="1600" dirty="0"/>
          </a:p>
        </p:txBody>
      </p:sp>
      <p:sp>
        <p:nvSpPr>
          <p:cNvPr id="7" name="Shape 5"/>
          <p:cNvSpPr/>
          <p:nvPr/>
        </p:nvSpPr>
        <p:spPr>
          <a:xfrm>
            <a:off x="4405789" y="2014855"/>
            <a:ext cx="3380343" cy="1487170"/>
          </a:xfrm>
          <a:prstGeom prst="roundRect">
            <a:avLst>
              <a:gd name="adj" fmla="val 6618"/>
            </a:avLst>
          </a:prstGeom>
          <a:solidFill>
            <a:srgbClr val="FCFCFD"/>
          </a:solidFill>
          <a:ln w="6350">
            <a:solidFill>
              <a:srgbClr val="DDE3EC"/>
            </a:solidFill>
            <a:prstDash val="solid"/>
          </a:ln>
        </p:spPr>
        <p:txBody>
          <a:bodyPr/>
          <a:lstStyle/>
          <a:p>
            <a:endParaRPr lang="es-AR"/>
          </a:p>
        </p:txBody>
      </p:sp>
      <p:sp>
        <p:nvSpPr>
          <p:cNvPr id="8" name="Text 6"/>
          <p:cNvSpPr/>
          <p:nvPr/>
        </p:nvSpPr>
        <p:spPr>
          <a:xfrm>
            <a:off x="4661694" y="2270760"/>
            <a:ext cx="2954589"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213D"/>
                </a:solidFill>
                <a:latin typeface="DM Sans" pitchFamily="34" charset="0"/>
                <a:ea typeface="DM Sans" pitchFamily="34" charset="-122"/>
                <a:cs typeface="DM Sans" pitchFamily="34" charset="-120"/>
              </a:rPr>
              <a:t>Reproducibilidad</a:t>
            </a:r>
            <a:endParaRPr lang="en-US" sz="2000" dirty="0"/>
          </a:p>
        </p:txBody>
      </p:sp>
      <p:sp>
        <p:nvSpPr>
          <p:cNvPr id="9" name="Text 7"/>
          <p:cNvSpPr/>
          <p:nvPr/>
        </p:nvSpPr>
        <p:spPr>
          <a:xfrm>
            <a:off x="4661694" y="2677160"/>
            <a:ext cx="2954589"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4506A"/>
                </a:solidFill>
                <a:latin typeface="DM Sans" pitchFamily="34" charset="0"/>
                <a:ea typeface="DM Sans" pitchFamily="34" charset="-122"/>
                <a:cs typeface="DM Sans" pitchFamily="34" charset="-120"/>
              </a:rPr>
              <a:t>El mismo resultado en cualquier máquina.</a:t>
            </a:r>
            <a:endParaRPr lang="en-US" sz="1600" dirty="0"/>
          </a:p>
        </p:txBody>
      </p:sp>
      <p:sp>
        <p:nvSpPr>
          <p:cNvPr id="10" name="Shape 8"/>
          <p:cNvSpPr/>
          <p:nvPr/>
        </p:nvSpPr>
        <p:spPr>
          <a:xfrm>
            <a:off x="7995682" y="2014855"/>
            <a:ext cx="3380343" cy="1487170"/>
          </a:xfrm>
          <a:prstGeom prst="roundRect">
            <a:avLst>
              <a:gd name="adj" fmla="val 6618"/>
            </a:avLst>
          </a:prstGeom>
          <a:solidFill>
            <a:srgbClr val="FCFCFD"/>
          </a:solidFill>
          <a:ln w="6350">
            <a:solidFill>
              <a:srgbClr val="DDE3EC"/>
            </a:solidFill>
            <a:prstDash val="solid"/>
          </a:ln>
        </p:spPr>
        <p:txBody>
          <a:bodyPr/>
          <a:lstStyle/>
          <a:p>
            <a:endParaRPr lang="es-AR"/>
          </a:p>
        </p:txBody>
      </p:sp>
      <p:sp>
        <p:nvSpPr>
          <p:cNvPr id="11" name="Text 9"/>
          <p:cNvSpPr/>
          <p:nvPr/>
        </p:nvSpPr>
        <p:spPr>
          <a:xfrm>
            <a:off x="8251587" y="2270760"/>
            <a:ext cx="2954589"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213D"/>
                </a:solidFill>
                <a:latin typeface="DM Sans" pitchFamily="34" charset="0"/>
                <a:ea typeface="DM Sans" pitchFamily="34" charset="-122"/>
                <a:cs typeface="DM Sans" pitchFamily="34" charset="-120"/>
              </a:rPr>
              <a:t>Repetición</a:t>
            </a:r>
            <a:endParaRPr lang="en-US" sz="2000" dirty="0"/>
          </a:p>
        </p:txBody>
      </p:sp>
      <p:sp>
        <p:nvSpPr>
          <p:cNvPr id="12" name="Text 10"/>
          <p:cNvSpPr/>
          <p:nvPr/>
        </p:nvSpPr>
        <p:spPr>
          <a:xfrm>
            <a:off x="8251587" y="2677160"/>
            <a:ext cx="2954589"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4506A"/>
                </a:solidFill>
                <a:latin typeface="DM Sans" pitchFamily="34" charset="0"/>
                <a:ea typeface="DM Sans" pitchFamily="34" charset="-122"/>
                <a:cs typeface="DM Sans" pitchFamily="34" charset="-120"/>
              </a:rPr>
              <a:t>Compilar, probar y empaquetar, una y otra vez.</a:t>
            </a:r>
            <a:endParaRPr lang="en-US" sz="1600" dirty="0"/>
          </a:p>
        </p:txBody>
      </p:sp>
      <p:sp>
        <p:nvSpPr>
          <p:cNvPr id="13" name="Text 11"/>
          <p:cNvSpPr/>
          <p:nvPr/>
        </p:nvSpPr>
        <p:spPr>
          <a:xfrm>
            <a:off x="812800" y="3911600"/>
            <a:ext cx="2743200" cy="609600"/>
          </a:xfrm>
          <a:prstGeom prst="roundRect">
            <a:avLst>
              <a:gd name="adj" fmla="val 12500"/>
            </a:avLst>
          </a:prstGeom>
          <a:solidFill>
            <a:srgbClr val="14213D"/>
          </a:solidFill>
          <a:ln/>
        </p:spPr>
        <p:txBody>
          <a:bodyPr wrap="none" lIns="0" tIns="0" rIns="0" bIns="0" rtlCol="0" anchor="ctr">
            <a:normAutofit/>
          </a:bodyPr>
          <a:lstStyle/>
          <a:p>
            <a:pPr marL="0" indent="0" algn="ctr">
              <a:lnSpc>
                <a:spcPts val="2800"/>
              </a:lnSpc>
              <a:buNone/>
            </a:pPr>
            <a:r>
              <a:rPr lang="en-US" sz="2000" b="1" dirty="0">
                <a:solidFill>
                  <a:srgbClr val="F6F7F9"/>
                </a:solidFill>
                <a:latin typeface="JetBrains Mono" pitchFamily="49" charset="0"/>
                <a:ea typeface="JetBrains Mono" pitchFamily="49" charset="-122"/>
                <a:cs typeface="JetBrains Mono" pitchFamily="49" charset="-120"/>
              </a:rPr>
              <a:t>./gradlew build</a:t>
            </a:r>
            <a:endParaRPr lang="en-US" sz="2000" dirty="0"/>
          </a:p>
        </p:txBody>
      </p:sp>
      <p:sp>
        <p:nvSpPr>
          <p:cNvPr id="14" name="Text 12"/>
          <p:cNvSpPr/>
          <p:nvPr/>
        </p:nvSpPr>
        <p:spPr>
          <a:xfrm>
            <a:off x="3759200" y="4074160"/>
            <a:ext cx="4389406"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4506A"/>
                </a:solidFill>
                <a:latin typeface="DM Sans" pitchFamily="34" charset="0"/>
                <a:ea typeface="DM Sans" pitchFamily="34" charset="-122"/>
                <a:cs typeface="DM Sans" pitchFamily="34" charset="-120"/>
              </a:rPr>
              <a:t>Un solo comando para todo el proceso</a:t>
            </a:r>
            <a:endParaRPr lang="en-US" sz="1600" dirty="0"/>
          </a:p>
        </p:txBody>
      </p:sp>
      <p:sp>
        <p:nvSpPr>
          <p:cNvPr id="15" name="Text 13"/>
          <p:cNvSpPr/>
          <p:nvPr/>
        </p:nvSpPr>
        <p:spPr>
          <a:xfrm>
            <a:off x="10058400" y="6238241"/>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580"/>
                </a:solidFill>
                <a:latin typeface="DM Sans" pitchFamily="34" charset="0"/>
                <a:ea typeface="DM Sans" pitchFamily="34" charset="-122"/>
                <a:cs typeface="DM Sans" pitchFamily="34" charset="-120"/>
              </a:rPr>
              <a:t>2 / 14</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8ED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B7A75"/>
                </a:solidFill>
                <a:latin typeface="DM Sans" pitchFamily="34" charset="0"/>
                <a:ea typeface="DM Sans" pitchFamily="34" charset="-122"/>
                <a:cs typeface="DM Sans" pitchFamily="34" charset="-120"/>
              </a:rPr>
              <a:t>QUÉ ES GRADLE</a:t>
            </a:r>
            <a:endParaRPr lang="en-US" sz="1200" dirty="0"/>
          </a:p>
        </p:txBody>
      </p:sp>
      <p:sp>
        <p:nvSpPr>
          <p:cNvPr id="3" name="Text 1"/>
          <p:cNvSpPr>
            <a:spLocks noGrp="1"/>
          </p:cNvSpPr>
          <p:nvPr>
            <p:ph type="title"/>
          </p:nvPr>
        </p:nvSpPr>
        <p:spPr>
          <a:xfrm>
            <a:off x="812800" y="11023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DM Sans" pitchFamily="34" charset="0"/>
                <a:ea typeface="DM Sans" pitchFamily="34" charset="-122"/>
                <a:cs typeface="DM Sans" pitchFamily="34" charset="-120"/>
              </a:rPr>
              <a:t>Gradle orquesta, no compila</a:t>
            </a:r>
            <a:endParaRPr lang="en-US" sz="3600" dirty="0"/>
          </a:p>
        </p:txBody>
      </p:sp>
      <p:sp>
        <p:nvSpPr>
          <p:cNvPr id="4" name="Text 2"/>
          <p:cNvSpPr/>
          <p:nvPr/>
        </p:nvSpPr>
        <p:spPr>
          <a:xfrm>
            <a:off x="812800" y="1910080"/>
            <a:ext cx="10883392" cy="75184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44506A"/>
                </a:solidFill>
                <a:latin typeface="DM Sans" pitchFamily="34" charset="0"/>
                <a:ea typeface="DM Sans" pitchFamily="34" charset="-122"/>
                <a:cs typeface="DM Sans" pitchFamily="34" charset="-120"/>
              </a:rPr>
              <a:t>Cada paso es una tarea. Gradle decide el orden y delega el trabajo, por ejemplo en javac.</a:t>
            </a:r>
            <a:endParaRPr lang="en-US" sz="2200" dirty="0"/>
          </a:p>
        </p:txBody>
      </p:sp>
      <p:sp>
        <p:nvSpPr>
          <p:cNvPr id="5" name="Shape 3"/>
          <p:cNvSpPr/>
          <p:nvPr/>
        </p:nvSpPr>
        <p:spPr>
          <a:xfrm>
            <a:off x="815975" y="2944495"/>
            <a:ext cx="10560050" cy="1492250"/>
          </a:xfrm>
          <a:prstGeom prst="roundRect">
            <a:avLst>
              <a:gd name="adj" fmla="val 6596"/>
            </a:avLst>
          </a:prstGeom>
          <a:solidFill>
            <a:srgbClr val="FCFCFD"/>
          </a:solidFill>
          <a:ln w="6350">
            <a:solidFill>
              <a:srgbClr val="DDE3EC"/>
            </a:solidFill>
            <a:prstDash val="solid"/>
          </a:ln>
        </p:spPr>
        <p:txBody>
          <a:bodyPr/>
          <a:lstStyle/>
          <a:p>
            <a:endParaRPr lang="es-AR"/>
          </a:p>
        </p:txBody>
      </p:sp>
      <p:sp>
        <p:nvSpPr>
          <p:cNvPr id="6" name="Text 4"/>
          <p:cNvSpPr/>
          <p:nvPr/>
        </p:nvSpPr>
        <p:spPr>
          <a:xfrm>
            <a:off x="1071880" y="3200400"/>
            <a:ext cx="1452880" cy="401320"/>
          </a:xfrm>
          <a:prstGeom prst="roundRect">
            <a:avLst>
              <a:gd name="adj" fmla="val 15823"/>
            </a:avLst>
          </a:prstGeom>
          <a:solidFill>
            <a:srgbClr val="E8EDF3"/>
          </a:solidFill>
          <a:ln/>
        </p:spPr>
        <p:txBody>
          <a:bodyPr wrap="none" lIns="0" tIns="0" rIns="0" bIns="0" rtlCol="0" anchor="ctr">
            <a:normAutofit/>
          </a:bodyPr>
          <a:lstStyle/>
          <a:p>
            <a:pPr marL="0" indent="0" algn="ctr">
              <a:lnSpc>
                <a:spcPts val="1960"/>
              </a:lnSpc>
              <a:buNone/>
            </a:pPr>
            <a:r>
              <a:rPr lang="en-US" sz="1400" dirty="0">
                <a:solidFill>
                  <a:srgbClr val="14213D"/>
                </a:solidFill>
                <a:latin typeface="JetBrains Mono" pitchFamily="49" charset="0"/>
                <a:ea typeface="JetBrains Mono" pitchFamily="49" charset="-122"/>
                <a:cs typeface="JetBrains Mono" pitchFamily="49" charset="-120"/>
              </a:rPr>
              <a:t>compileJava</a:t>
            </a:r>
            <a:endParaRPr lang="en-US" sz="1400" dirty="0"/>
          </a:p>
        </p:txBody>
      </p:sp>
      <p:pic>
        <p:nvPicPr>
          <p:cNvPr id="7" name="Image 0" descr="arrow-right"/>
          <p:cNvPicPr>
            <a:picLocks noChangeAspect="1"/>
          </p:cNvPicPr>
          <p:nvPr/>
        </p:nvPicPr>
        <p:blipFill>
          <a:blip r:embed="rId3"/>
          <a:srcRect/>
          <a:stretch/>
        </p:blipFill>
        <p:spPr>
          <a:xfrm>
            <a:off x="2626360" y="3324861"/>
            <a:ext cx="254000" cy="152400"/>
          </a:xfrm>
          <a:prstGeom prst="rect">
            <a:avLst/>
          </a:prstGeom>
        </p:spPr>
      </p:pic>
      <p:sp>
        <p:nvSpPr>
          <p:cNvPr id="8" name="Text 5"/>
          <p:cNvSpPr/>
          <p:nvPr/>
        </p:nvSpPr>
        <p:spPr>
          <a:xfrm>
            <a:off x="2981960" y="3200400"/>
            <a:ext cx="1026160" cy="401320"/>
          </a:xfrm>
          <a:prstGeom prst="roundRect">
            <a:avLst>
              <a:gd name="adj" fmla="val 15823"/>
            </a:avLst>
          </a:prstGeom>
          <a:solidFill>
            <a:srgbClr val="E8EDF3"/>
          </a:solidFill>
          <a:ln/>
        </p:spPr>
        <p:txBody>
          <a:bodyPr wrap="none" lIns="0" tIns="0" rIns="0" bIns="0" rtlCol="0" anchor="ctr">
            <a:normAutofit/>
          </a:bodyPr>
          <a:lstStyle/>
          <a:p>
            <a:pPr marL="0" indent="0" algn="ctr">
              <a:lnSpc>
                <a:spcPts val="1960"/>
              </a:lnSpc>
              <a:buNone/>
            </a:pPr>
            <a:r>
              <a:rPr lang="en-US" sz="1400" dirty="0">
                <a:solidFill>
                  <a:srgbClr val="14213D"/>
                </a:solidFill>
                <a:latin typeface="JetBrains Mono" pitchFamily="49" charset="0"/>
                <a:ea typeface="JetBrains Mono" pitchFamily="49" charset="-122"/>
                <a:cs typeface="JetBrains Mono" pitchFamily="49" charset="-120"/>
              </a:rPr>
              <a:t>classes</a:t>
            </a:r>
            <a:endParaRPr lang="en-US" sz="1400" dirty="0"/>
          </a:p>
        </p:txBody>
      </p:sp>
      <p:pic>
        <p:nvPicPr>
          <p:cNvPr id="9" name="Image 1" descr="arrow-right"/>
          <p:cNvPicPr>
            <a:picLocks noChangeAspect="1"/>
          </p:cNvPicPr>
          <p:nvPr/>
        </p:nvPicPr>
        <p:blipFill>
          <a:blip r:embed="rId3"/>
          <a:srcRect/>
          <a:stretch/>
        </p:blipFill>
        <p:spPr>
          <a:xfrm>
            <a:off x="4109720" y="3324861"/>
            <a:ext cx="254000" cy="152400"/>
          </a:xfrm>
          <a:prstGeom prst="rect">
            <a:avLst/>
          </a:prstGeom>
        </p:spPr>
      </p:pic>
      <p:sp>
        <p:nvSpPr>
          <p:cNvPr id="10" name="Text 6"/>
          <p:cNvSpPr/>
          <p:nvPr/>
        </p:nvSpPr>
        <p:spPr>
          <a:xfrm>
            <a:off x="4465320" y="3200400"/>
            <a:ext cx="599440" cy="401320"/>
          </a:xfrm>
          <a:prstGeom prst="roundRect">
            <a:avLst>
              <a:gd name="adj" fmla="val 15823"/>
            </a:avLst>
          </a:prstGeom>
          <a:solidFill>
            <a:srgbClr val="E8EDF3"/>
          </a:solidFill>
          <a:ln/>
        </p:spPr>
        <p:txBody>
          <a:bodyPr wrap="none" lIns="0" tIns="0" rIns="0" bIns="0" rtlCol="0" anchor="ctr">
            <a:normAutofit/>
          </a:bodyPr>
          <a:lstStyle/>
          <a:p>
            <a:pPr marL="0" indent="0" algn="ctr">
              <a:lnSpc>
                <a:spcPts val="1960"/>
              </a:lnSpc>
              <a:buNone/>
            </a:pPr>
            <a:r>
              <a:rPr lang="en-US" sz="1400" dirty="0">
                <a:solidFill>
                  <a:srgbClr val="14213D"/>
                </a:solidFill>
                <a:latin typeface="JetBrains Mono" pitchFamily="49" charset="0"/>
                <a:ea typeface="JetBrains Mono" pitchFamily="49" charset="-122"/>
                <a:cs typeface="JetBrains Mono" pitchFamily="49" charset="-120"/>
              </a:rPr>
              <a:t>jar</a:t>
            </a:r>
            <a:endParaRPr lang="en-US" sz="1400" dirty="0"/>
          </a:p>
        </p:txBody>
      </p:sp>
      <p:pic>
        <p:nvPicPr>
          <p:cNvPr id="11" name="Image 2" descr="arrow-right"/>
          <p:cNvPicPr>
            <a:picLocks noChangeAspect="1"/>
          </p:cNvPicPr>
          <p:nvPr/>
        </p:nvPicPr>
        <p:blipFill>
          <a:blip r:embed="rId3"/>
          <a:srcRect/>
          <a:stretch/>
        </p:blipFill>
        <p:spPr>
          <a:xfrm>
            <a:off x="5166360" y="3324861"/>
            <a:ext cx="254000" cy="152400"/>
          </a:xfrm>
          <a:prstGeom prst="rect">
            <a:avLst/>
          </a:prstGeom>
        </p:spPr>
      </p:pic>
      <p:sp>
        <p:nvSpPr>
          <p:cNvPr id="12" name="Text 7"/>
          <p:cNvSpPr/>
          <p:nvPr/>
        </p:nvSpPr>
        <p:spPr>
          <a:xfrm>
            <a:off x="5521960" y="3200400"/>
            <a:ext cx="1132840" cy="401320"/>
          </a:xfrm>
          <a:prstGeom prst="roundRect">
            <a:avLst>
              <a:gd name="adj" fmla="val 15823"/>
            </a:avLst>
          </a:prstGeom>
          <a:solidFill>
            <a:srgbClr val="E8EDF3"/>
          </a:solidFill>
          <a:ln/>
        </p:spPr>
        <p:txBody>
          <a:bodyPr wrap="none" lIns="0" tIns="0" rIns="0" bIns="0" rtlCol="0" anchor="ctr">
            <a:normAutofit/>
          </a:bodyPr>
          <a:lstStyle/>
          <a:p>
            <a:pPr marL="0" indent="0" algn="ctr">
              <a:lnSpc>
                <a:spcPts val="1960"/>
              </a:lnSpc>
              <a:buNone/>
            </a:pPr>
            <a:r>
              <a:rPr lang="en-US" sz="1400" dirty="0">
                <a:solidFill>
                  <a:srgbClr val="14213D"/>
                </a:solidFill>
                <a:latin typeface="JetBrains Mono" pitchFamily="49" charset="0"/>
                <a:ea typeface="JetBrains Mono" pitchFamily="49" charset="-122"/>
                <a:cs typeface="JetBrains Mono" pitchFamily="49" charset="-120"/>
              </a:rPr>
              <a:t>assemble</a:t>
            </a:r>
            <a:endParaRPr lang="en-US" sz="1400" dirty="0"/>
          </a:p>
        </p:txBody>
      </p:sp>
      <p:sp>
        <p:nvSpPr>
          <p:cNvPr id="13" name="Text 8"/>
          <p:cNvSpPr/>
          <p:nvPr/>
        </p:nvSpPr>
        <p:spPr>
          <a:xfrm>
            <a:off x="1071880" y="3779520"/>
            <a:ext cx="1879600" cy="401320"/>
          </a:xfrm>
          <a:prstGeom prst="roundRect">
            <a:avLst>
              <a:gd name="adj" fmla="val 15823"/>
            </a:avLst>
          </a:prstGeom>
          <a:solidFill>
            <a:srgbClr val="E8EDF3"/>
          </a:solidFill>
          <a:ln/>
        </p:spPr>
        <p:txBody>
          <a:bodyPr wrap="none" lIns="0" tIns="0" rIns="0" bIns="0" rtlCol="0" anchor="ctr">
            <a:normAutofit/>
          </a:bodyPr>
          <a:lstStyle/>
          <a:p>
            <a:pPr marL="0" indent="0" algn="ctr">
              <a:lnSpc>
                <a:spcPts val="1960"/>
              </a:lnSpc>
              <a:buNone/>
            </a:pPr>
            <a:r>
              <a:rPr lang="en-US" sz="1400" dirty="0">
                <a:solidFill>
                  <a:srgbClr val="14213D"/>
                </a:solidFill>
                <a:latin typeface="JetBrains Mono" pitchFamily="49" charset="0"/>
                <a:ea typeface="JetBrains Mono" pitchFamily="49" charset="-122"/>
                <a:cs typeface="JetBrains Mono" pitchFamily="49" charset="-120"/>
              </a:rPr>
              <a:t>compileTestJava</a:t>
            </a:r>
            <a:endParaRPr lang="en-US" sz="1400" dirty="0"/>
          </a:p>
        </p:txBody>
      </p:sp>
      <p:pic>
        <p:nvPicPr>
          <p:cNvPr id="14" name="Image 3" descr="arrow-right"/>
          <p:cNvPicPr>
            <a:picLocks noChangeAspect="1"/>
          </p:cNvPicPr>
          <p:nvPr/>
        </p:nvPicPr>
        <p:blipFill>
          <a:blip r:embed="rId3"/>
          <a:srcRect/>
          <a:stretch/>
        </p:blipFill>
        <p:spPr>
          <a:xfrm>
            <a:off x="3053080" y="3903980"/>
            <a:ext cx="254000" cy="152400"/>
          </a:xfrm>
          <a:prstGeom prst="rect">
            <a:avLst/>
          </a:prstGeom>
        </p:spPr>
      </p:pic>
      <p:sp>
        <p:nvSpPr>
          <p:cNvPr id="15" name="Text 9"/>
          <p:cNvSpPr/>
          <p:nvPr/>
        </p:nvSpPr>
        <p:spPr>
          <a:xfrm>
            <a:off x="3408680" y="3779520"/>
            <a:ext cx="1452880" cy="401320"/>
          </a:xfrm>
          <a:prstGeom prst="roundRect">
            <a:avLst>
              <a:gd name="adj" fmla="val 15823"/>
            </a:avLst>
          </a:prstGeom>
          <a:solidFill>
            <a:srgbClr val="E8EDF3"/>
          </a:solidFill>
          <a:ln/>
        </p:spPr>
        <p:txBody>
          <a:bodyPr wrap="none" lIns="0" tIns="0" rIns="0" bIns="0" rtlCol="0" anchor="ctr">
            <a:normAutofit/>
          </a:bodyPr>
          <a:lstStyle/>
          <a:p>
            <a:pPr marL="0" indent="0" algn="ctr">
              <a:lnSpc>
                <a:spcPts val="1960"/>
              </a:lnSpc>
              <a:buNone/>
            </a:pPr>
            <a:r>
              <a:rPr lang="en-US" sz="1400" dirty="0">
                <a:solidFill>
                  <a:srgbClr val="14213D"/>
                </a:solidFill>
                <a:latin typeface="JetBrains Mono" pitchFamily="49" charset="0"/>
                <a:ea typeface="JetBrains Mono" pitchFamily="49" charset="-122"/>
                <a:cs typeface="JetBrains Mono" pitchFamily="49" charset="-120"/>
              </a:rPr>
              <a:t>testClasses</a:t>
            </a:r>
            <a:endParaRPr lang="en-US" sz="1400" dirty="0"/>
          </a:p>
        </p:txBody>
      </p:sp>
      <p:pic>
        <p:nvPicPr>
          <p:cNvPr id="16" name="Image 4" descr="arrow-right"/>
          <p:cNvPicPr>
            <a:picLocks noChangeAspect="1"/>
          </p:cNvPicPr>
          <p:nvPr/>
        </p:nvPicPr>
        <p:blipFill>
          <a:blip r:embed="rId3"/>
          <a:srcRect/>
          <a:stretch/>
        </p:blipFill>
        <p:spPr>
          <a:xfrm>
            <a:off x="4963160" y="3903980"/>
            <a:ext cx="254000" cy="152400"/>
          </a:xfrm>
          <a:prstGeom prst="rect">
            <a:avLst/>
          </a:prstGeom>
        </p:spPr>
      </p:pic>
      <p:sp>
        <p:nvSpPr>
          <p:cNvPr id="17" name="Text 10"/>
          <p:cNvSpPr/>
          <p:nvPr/>
        </p:nvSpPr>
        <p:spPr>
          <a:xfrm>
            <a:off x="5318760" y="3779520"/>
            <a:ext cx="706120" cy="401320"/>
          </a:xfrm>
          <a:prstGeom prst="roundRect">
            <a:avLst>
              <a:gd name="adj" fmla="val 15823"/>
            </a:avLst>
          </a:prstGeom>
          <a:solidFill>
            <a:srgbClr val="E8EDF3"/>
          </a:solidFill>
          <a:ln/>
        </p:spPr>
        <p:txBody>
          <a:bodyPr wrap="none" lIns="0" tIns="0" rIns="0" bIns="0" rtlCol="0" anchor="ctr">
            <a:normAutofit/>
          </a:bodyPr>
          <a:lstStyle/>
          <a:p>
            <a:pPr marL="0" indent="0" algn="ctr">
              <a:lnSpc>
                <a:spcPts val="1960"/>
              </a:lnSpc>
              <a:buNone/>
            </a:pPr>
            <a:r>
              <a:rPr lang="en-US" sz="1400" dirty="0">
                <a:solidFill>
                  <a:srgbClr val="14213D"/>
                </a:solidFill>
                <a:latin typeface="JetBrains Mono" pitchFamily="49" charset="0"/>
                <a:ea typeface="JetBrains Mono" pitchFamily="49" charset="-122"/>
                <a:cs typeface="JetBrains Mono" pitchFamily="49" charset="-120"/>
              </a:rPr>
              <a:t>test</a:t>
            </a:r>
            <a:endParaRPr lang="en-US" sz="1400" dirty="0"/>
          </a:p>
        </p:txBody>
      </p:sp>
      <p:pic>
        <p:nvPicPr>
          <p:cNvPr id="18" name="Image 5" descr="arrow-right"/>
          <p:cNvPicPr>
            <a:picLocks noChangeAspect="1"/>
          </p:cNvPicPr>
          <p:nvPr/>
        </p:nvPicPr>
        <p:blipFill>
          <a:blip r:embed="rId3"/>
          <a:srcRect/>
          <a:stretch/>
        </p:blipFill>
        <p:spPr>
          <a:xfrm>
            <a:off x="6126480" y="3903980"/>
            <a:ext cx="254000" cy="152400"/>
          </a:xfrm>
          <a:prstGeom prst="rect">
            <a:avLst/>
          </a:prstGeom>
        </p:spPr>
      </p:pic>
      <p:sp>
        <p:nvSpPr>
          <p:cNvPr id="19" name="Text 11"/>
          <p:cNvSpPr/>
          <p:nvPr/>
        </p:nvSpPr>
        <p:spPr>
          <a:xfrm>
            <a:off x="6482080" y="3779520"/>
            <a:ext cx="812800" cy="401320"/>
          </a:xfrm>
          <a:prstGeom prst="roundRect">
            <a:avLst>
              <a:gd name="adj" fmla="val 15823"/>
            </a:avLst>
          </a:prstGeom>
          <a:solidFill>
            <a:srgbClr val="E8EDF3"/>
          </a:solidFill>
          <a:ln/>
        </p:spPr>
        <p:txBody>
          <a:bodyPr wrap="none" lIns="0" tIns="0" rIns="0" bIns="0" rtlCol="0" anchor="ctr">
            <a:normAutofit/>
          </a:bodyPr>
          <a:lstStyle/>
          <a:p>
            <a:pPr marL="0" indent="0" algn="ctr">
              <a:lnSpc>
                <a:spcPts val="1960"/>
              </a:lnSpc>
              <a:buNone/>
            </a:pPr>
            <a:r>
              <a:rPr lang="en-US" sz="1400" dirty="0">
                <a:solidFill>
                  <a:srgbClr val="14213D"/>
                </a:solidFill>
                <a:latin typeface="JetBrains Mono" pitchFamily="49" charset="0"/>
                <a:ea typeface="JetBrains Mono" pitchFamily="49" charset="-122"/>
                <a:cs typeface="JetBrains Mono" pitchFamily="49" charset="-120"/>
              </a:rPr>
              <a:t>check</a:t>
            </a:r>
            <a:endParaRPr lang="en-US" sz="1400" dirty="0"/>
          </a:p>
        </p:txBody>
      </p:sp>
      <p:pic>
        <p:nvPicPr>
          <p:cNvPr id="20" name="Image 6" descr="arrow-right"/>
          <p:cNvPicPr>
            <a:picLocks noChangeAspect="1"/>
          </p:cNvPicPr>
          <p:nvPr/>
        </p:nvPicPr>
        <p:blipFill>
          <a:blip r:embed="rId4"/>
          <a:srcRect/>
          <a:stretch/>
        </p:blipFill>
        <p:spPr>
          <a:xfrm>
            <a:off x="7498080" y="3563620"/>
            <a:ext cx="406400" cy="254000"/>
          </a:xfrm>
          <a:prstGeom prst="rect">
            <a:avLst/>
          </a:prstGeom>
        </p:spPr>
      </p:pic>
      <p:sp>
        <p:nvSpPr>
          <p:cNvPr id="21" name="Text 12"/>
          <p:cNvSpPr/>
          <p:nvPr/>
        </p:nvSpPr>
        <p:spPr>
          <a:xfrm>
            <a:off x="8107680" y="3342641"/>
            <a:ext cx="1346200" cy="695960"/>
          </a:xfrm>
          <a:prstGeom prst="roundRect">
            <a:avLst>
              <a:gd name="adj" fmla="val 14599"/>
            </a:avLst>
          </a:prstGeom>
          <a:solidFill>
            <a:srgbClr val="0B7A75"/>
          </a:solidFill>
          <a:ln/>
        </p:spPr>
        <p:txBody>
          <a:bodyPr wrap="none" lIns="0" tIns="0" rIns="0" bIns="0" rtlCol="0" anchor="ctr">
            <a:normAutofit/>
          </a:bodyPr>
          <a:lstStyle/>
          <a:p>
            <a:pPr marL="0" indent="0" algn="ctr">
              <a:lnSpc>
                <a:spcPts val="3080"/>
              </a:lnSpc>
              <a:buNone/>
            </a:pPr>
            <a:r>
              <a:rPr lang="en-US" sz="2200" b="1" dirty="0">
                <a:solidFill>
                  <a:srgbClr val="F6F7F9"/>
                </a:solidFill>
                <a:latin typeface="JetBrains Mono" pitchFamily="49" charset="0"/>
                <a:ea typeface="JetBrains Mono" pitchFamily="49" charset="-122"/>
                <a:cs typeface="JetBrains Mono" pitchFamily="49" charset="-120"/>
              </a:rPr>
              <a:t>build</a:t>
            </a:r>
            <a:endParaRPr lang="en-US" sz="2200" dirty="0"/>
          </a:p>
        </p:txBody>
      </p:sp>
      <p:sp>
        <p:nvSpPr>
          <p:cNvPr id="22" name="Text 13"/>
          <p:cNvSpPr/>
          <p:nvPr/>
        </p:nvSpPr>
        <p:spPr>
          <a:xfrm>
            <a:off x="812800" y="474472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580"/>
                </a:solidFill>
                <a:latin typeface="DM Sans" pitchFamily="34" charset="0"/>
                <a:ea typeface="DM Sans" pitchFamily="34" charset="-122"/>
                <a:cs typeface="DM Sans" pitchFamily="34" charset="-120"/>
              </a:rPr>
              <a:t>Versión simplificada del grafo que muestra gradle build --dry-run</a:t>
            </a:r>
            <a:endParaRPr lang="en-US" sz="1200" dirty="0"/>
          </a:p>
        </p:txBody>
      </p:sp>
      <p:sp>
        <p:nvSpPr>
          <p:cNvPr id="23" name="Text 14"/>
          <p:cNvSpPr/>
          <p:nvPr/>
        </p:nvSpPr>
        <p:spPr>
          <a:xfrm>
            <a:off x="10058400" y="6238241"/>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580"/>
                </a:solidFill>
                <a:latin typeface="DM Sans" pitchFamily="34" charset="0"/>
                <a:ea typeface="DM Sans" pitchFamily="34" charset="-122"/>
                <a:cs typeface="DM Sans" pitchFamily="34" charset="-120"/>
              </a:rPr>
              <a:t>3 / 14</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7F9"/>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B7A75"/>
                </a:solidFill>
                <a:latin typeface="DM Sans" pitchFamily="34" charset="0"/>
                <a:ea typeface="DM Sans" pitchFamily="34" charset="-122"/>
                <a:cs typeface="DM Sans" pitchFamily="34" charset="-120"/>
              </a:rPr>
              <a:t>CICLO DE VIDA</a:t>
            </a:r>
            <a:endParaRPr lang="en-US" sz="1200" dirty="0"/>
          </a:p>
        </p:txBody>
      </p:sp>
      <p:sp>
        <p:nvSpPr>
          <p:cNvPr id="3" name="Text 1"/>
          <p:cNvSpPr>
            <a:spLocks noGrp="1"/>
          </p:cNvSpPr>
          <p:nvPr>
            <p:ph type="title"/>
          </p:nvPr>
        </p:nvSpPr>
        <p:spPr>
          <a:xfrm>
            <a:off x="812800" y="11023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DM Sans" pitchFamily="34" charset="0"/>
                <a:ea typeface="DM Sans" pitchFamily="34" charset="-122"/>
                <a:cs typeface="DM Sans" pitchFamily="34" charset="-120"/>
              </a:rPr>
              <a:t>Todo build pasa por tres fases</a:t>
            </a:r>
            <a:endParaRPr lang="en-US" sz="3600" dirty="0"/>
          </a:p>
        </p:txBody>
      </p:sp>
      <p:sp>
        <p:nvSpPr>
          <p:cNvPr id="4" name="Shape 2"/>
          <p:cNvSpPr/>
          <p:nvPr/>
        </p:nvSpPr>
        <p:spPr>
          <a:xfrm>
            <a:off x="815975" y="2106295"/>
            <a:ext cx="3041650" cy="1731010"/>
          </a:xfrm>
          <a:prstGeom prst="roundRect">
            <a:avLst>
              <a:gd name="adj" fmla="val 5686"/>
            </a:avLst>
          </a:prstGeom>
          <a:solidFill>
            <a:srgbClr val="FCFCFD"/>
          </a:solidFill>
          <a:ln w="6350">
            <a:solidFill>
              <a:srgbClr val="DDE3EC"/>
            </a:solidFill>
            <a:prstDash val="solid"/>
          </a:ln>
        </p:spPr>
        <p:txBody>
          <a:bodyPr/>
          <a:lstStyle/>
          <a:p>
            <a:endParaRPr lang="es-AR"/>
          </a:p>
        </p:txBody>
      </p:sp>
      <p:sp>
        <p:nvSpPr>
          <p:cNvPr id="5" name="Text 3"/>
          <p:cNvSpPr/>
          <p:nvPr/>
        </p:nvSpPr>
        <p:spPr>
          <a:xfrm>
            <a:off x="1046480" y="2336800"/>
            <a:ext cx="2658059"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7A75"/>
                </a:solidFill>
                <a:latin typeface="DM Sans" pitchFamily="34" charset="0"/>
                <a:ea typeface="DM Sans" pitchFamily="34" charset="-122"/>
                <a:cs typeface="DM Sans" pitchFamily="34" charset="-120"/>
              </a:rPr>
              <a:t>FASE 1</a:t>
            </a:r>
            <a:endParaRPr lang="en-US" sz="1200" dirty="0"/>
          </a:p>
        </p:txBody>
      </p:sp>
      <p:sp>
        <p:nvSpPr>
          <p:cNvPr id="6" name="Text 4"/>
          <p:cNvSpPr/>
          <p:nvPr/>
        </p:nvSpPr>
        <p:spPr>
          <a:xfrm>
            <a:off x="1046480" y="2626361"/>
            <a:ext cx="2658059"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4213D"/>
                </a:solidFill>
                <a:latin typeface="DM Sans" pitchFamily="34" charset="0"/>
                <a:ea typeface="DM Sans" pitchFamily="34" charset="-122"/>
                <a:cs typeface="DM Sans" pitchFamily="34" charset="-120"/>
              </a:rPr>
              <a:t>Inicialización</a:t>
            </a:r>
            <a:endParaRPr lang="en-US" sz="2200" dirty="0"/>
          </a:p>
        </p:txBody>
      </p:sp>
      <p:sp>
        <p:nvSpPr>
          <p:cNvPr id="7" name="Text 5"/>
          <p:cNvSpPr/>
          <p:nvPr/>
        </p:nvSpPr>
        <p:spPr>
          <a:xfrm>
            <a:off x="1046480" y="3037841"/>
            <a:ext cx="2658059"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4506A"/>
                </a:solidFill>
                <a:latin typeface="DM Sans" pitchFamily="34" charset="0"/>
                <a:ea typeface="DM Sans" pitchFamily="34" charset="-122"/>
                <a:cs typeface="DM Sans" pitchFamily="34" charset="-120"/>
              </a:rPr>
              <a:t>Lee settings.gradle y crea los Project.</a:t>
            </a:r>
            <a:endParaRPr lang="en-US" sz="1600" dirty="0"/>
          </a:p>
        </p:txBody>
      </p:sp>
      <p:pic>
        <p:nvPicPr>
          <p:cNvPr id="8" name="Image 0" descr="arrow-right"/>
          <p:cNvPicPr>
            <a:picLocks noChangeAspect="1"/>
          </p:cNvPicPr>
          <p:nvPr/>
        </p:nvPicPr>
        <p:blipFill>
          <a:blip r:embed="rId3"/>
          <a:srcRect/>
          <a:stretch/>
        </p:blipFill>
        <p:spPr>
          <a:xfrm>
            <a:off x="4064000" y="2870200"/>
            <a:ext cx="304800" cy="203200"/>
          </a:xfrm>
          <a:prstGeom prst="rect">
            <a:avLst/>
          </a:prstGeom>
        </p:spPr>
      </p:pic>
      <p:sp>
        <p:nvSpPr>
          <p:cNvPr id="9" name="Shape 6"/>
          <p:cNvSpPr/>
          <p:nvPr/>
        </p:nvSpPr>
        <p:spPr>
          <a:xfrm>
            <a:off x="4575175" y="1964055"/>
            <a:ext cx="3041650" cy="2015490"/>
          </a:xfrm>
          <a:prstGeom prst="roundRect">
            <a:avLst>
              <a:gd name="adj" fmla="val 4883"/>
            </a:avLst>
          </a:prstGeom>
          <a:solidFill>
            <a:srgbClr val="FCFCFD"/>
          </a:solidFill>
          <a:ln w="6350">
            <a:solidFill>
              <a:srgbClr val="DDE3EC"/>
            </a:solidFill>
            <a:prstDash val="solid"/>
          </a:ln>
        </p:spPr>
        <p:txBody>
          <a:bodyPr/>
          <a:lstStyle/>
          <a:p>
            <a:endParaRPr lang="es-AR"/>
          </a:p>
        </p:txBody>
      </p:sp>
      <p:sp>
        <p:nvSpPr>
          <p:cNvPr id="10" name="Text 7"/>
          <p:cNvSpPr/>
          <p:nvPr/>
        </p:nvSpPr>
        <p:spPr>
          <a:xfrm>
            <a:off x="4805680" y="2194561"/>
            <a:ext cx="2658059"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7A75"/>
                </a:solidFill>
                <a:latin typeface="DM Sans" pitchFamily="34" charset="0"/>
                <a:ea typeface="DM Sans" pitchFamily="34" charset="-122"/>
                <a:cs typeface="DM Sans" pitchFamily="34" charset="-120"/>
              </a:rPr>
              <a:t>FASE 2</a:t>
            </a:r>
            <a:endParaRPr lang="en-US" sz="1200" dirty="0"/>
          </a:p>
        </p:txBody>
      </p:sp>
      <p:sp>
        <p:nvSpPr>
          <p:cNvPr id="11" name="Text 8"/>
          <p:cNvSpPr/>
          <p:nvPr/>
        </p:nvSpPr>
        <p:spPr>
          <a:xfrm>
            <a:off x="4805680" y="2484120"/>
            <a:ext cx="2658059"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4213D"/>
                </a:solidFill>
                <a:latin typeface="DM Sans" pitchFamily="34" charset="0"/>
                <a:ea typeface="DM Sans" pitchFamily="34" charset="-122"/>
                <a:cs typeface="DM Sans" pitchFamily="34" charset="-120"/>
              </a:rPr>
              <a:t>Configuración</a:t>
            </a:r>
            <a:endParaRPr lang="en-US" sz="2200" dirty="0"/>
          </a:p>
        </p:txBody>
      </p:sp>
      <p:sp>
        <p:nvSpPr>
          <p:cNvPr id="12" name="Text 9"/>
          <p:cNvSpPr/>
          <p:nvPr/>
        </p:nvSpPr>
        <p:spPr>
          <a:xfrm>
            <a:off x="4805680" y="2895600"/>
            <a:ext cx="2658059" cy="87884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4506A"/>
                </a:solidFill>
                <a:latin typeface="DM Sans" pitchFamily="34" charset="0"/>
                <a:ea typeface="DM Sans" pitchFamily="34" charset="-122"/>
                <a:cs typeface="DM Sans" pitchFamily="34" charset="-120"/>
              </a:rPr>
              <a:t>Lee build.gradle, registra tareas y arma el grafo. Todavía no ejecuta nada.</a:t>
            </a:r>
            <a:endParaRPr lang="en-US" sz="1600" dirty="0"/>
          </a:p>
        </p:txBody>
      </p:sp>
      <p:pic>
        <p:nvPicPr>
          <p:cNvPr id="13" name="Image 1" descr="arrow-right"/>
          <p:cNvPicPr>
            <a:picLocks noChangeAspect="1"/>
          </p:cNvPicPr>
          <p:nvPr/>
        </p:nvPicPr>
        <p:blipFill>
          <a:blip r:embed="rId3"/>
          <a:srcRect/>
          <a:stretch/>
        </p:blipFill>
        <p:spPr>
          <a:xfrm>
            <a:off x="7823200" y="2870200"/>
            <a:ext cx="304800" cy="203200"/>
          </a:xfrm>
          <a:prstGeom prst="rect">
            <a:avLst/>
          </a:prstGeom>
        </p:spPr>
      </p:pic>
      <p:sp>
        <p:nvSpPr>
          <p:cNvPr id="14" name="Shape 10"/>
          <p:cNvSpPr/>
          <p:nvPr/>
        </p:nvSpPr>
        <p:spPr>
          <a:xfrm>
            <a:off x="8334375" y="2106295"/>
            <a:ext cx="3041650" cy="1731010"/>
          </a:xfrm>
          <a:prstGeom prst="roundRect">
            <a:avLst>
              <a:gd name="adj" fmla="val 5686"/>
            </a:avLst>
          </a:prstGeom>
          <a:solidFill>
            <a:srgbClr val="FCFCFD"/>
          </a:solidFill>
          <a:ln w="6350">
            <a:solidFill>
              <a:srgbClr val="DDE3EC"/>
            </a:solidFill>
            <a:prstDash val="solid"/>
          </a:ln>
        </p:spPr>
        <p:txBody>
          <a:bodyPr/>
          <a:lstStyle/>
          <a:p>
            <a:endParaRPr lang="es-AR"/>
          </a:p>
        </p:txBody>
      </p:sp>
      <p:sp>
        <p:nvSpPr>
          <p:cNvPr id="15" name="Text 11"/>
          <p:cNvSpPr/>
          <p:nvPr/>
        </p:nvSpPr>
        <p:spPr>
          <a:xfrm>
            <a:off x="8564880" y="2336800"/>
            <a:ext cx="2658059"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7A75"/>
                </a:solidFill>
                <a:latin typeface="DM Sans" pitchFamily="34" charset="0"/>
                <a:ea typeface="DM Sans" pitchFamily="34" charset="-122"/>
                <a:cs typeface="DM Sans" pitchFamily="34" charset="-120"/>
              </a:rPr>
              <a:t>FASE 3</a:t>
            </a:r>
            <a:endParaRPr lang="en-US" sz="1200" dirty="0"/>
          </a:p>
        </p:txBody>
      </p:sp>
      <p:sp>
        <p:nvSpPr>
          <p:cNvPr id="16" name="Text 12"/>
          <p:cNvSpPr/>
          <p:nvPr/>
        </p:nvSpPr>
        <p:spPr>
          <a:xfrm>
            <a:off x="8564880" y="2626361"/>
            <a:ext cx="2658059"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4213D"/>
                </a:solidFill>
                <a:latin typeface="DM Sans" pitchFamily="34" charset="0"/>
                <a:ea typeface="DM Sans" pitchFamily="34" charset="-122"/>
                <a:cs typeface="DM Sans" pitchFamily="34" charset="-120"/>
              </a:rPr>
              <a:t>Ejecución</a:t>
            </a:r>
            <a:endParaRPr lang="en-US" sz="2200" dirty="0"/>
          </a:p>
        </p:txBody>
      </p:sp>
      <p:sp>
        <p:nvSpPr>
          <p:cNvPr id="17" name="Text 13"/>
          <p:cNvSpPr/>
          <p:nvPr/>
        </p:nvSpPr>
        <p:spPr>
          <a:xfrm>
            <a:off x="8564880" y="3037841"/>
            <a:ext cx="2658059"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4506A"/>
                </a:solidFill>
                <a:latin typeface="DM Sans" pitchFamily="34" charset="0"/>
                <a:ea typeface="DM Sans" pitchFamily="34" charset="-122"/>
                <a:cs typeface="DM Sans" pitchFamily="34" charset="-120"/>
              </a:rPr>
              <a:t>Corre las tareas elegidas, en el orden del grafo.</a:t>
            </a:r>
            <a:endParaRPr lang="en-US" sz="1600" dirty="0"/>
          </a:p>
        </p:txBody>
      </p:sp>
      <p:sp>
        <p:nvSpPr>
          <p:cNvPr id="18" name="Text 14"/>
          <p:cNvSpPr/>
          <p:nvPr/>
        </p:nvSpPr>
        <p:spPr>
          <a:xfrm>
            <a:off x="812800" y="4338320"/>
            <a:ext cx="10566400" cy="1016000"/>
          </a:xfrm>
          <a:prstGeom prst="roundRect">
            <a:avLst>
              <a:gd name="adj" fmla="val 10000"/>
            </a:avLst>
          </a:prstGeom>
          <a:solidFill>
            <a:srgbClr val="E8EDF3"/>
          </a:solidFill>
          <a:ln/>
        </p:spPr>
        <p:txBody>
          <a:bodyPr wrap="square" lIns="224242" tIns="173442" rIns="0" bIns="148042" rtlCol="0" anchor="t">
            <a:normAutofit/>
          </a:bodyPr>
          <a:lstStyle/>
          <a:p>
            <a:pPr marL="0" indent="0" algn="l">
              <a:lnSpc>
                <a:spcPts val="2400"/>
              </a:lnSpc>
              <a:buNone/>
            </a:pPr>
            <a:r>
              <a:rPr lang="en-US" sz="1600" dirty="0">
                <a:solidFill>
                  <a:srgbClr val="14213D"/>
                </a:solidFill>
                <a:latin typeface="DM Sans" pitchFamily="34" charset="0"/>
                <a:ea typeface="DM Sans" pitchFamily="34" charset="-122"/>
                <a:cs typeface="DM Sans" pitchFamily="34" charset="-120"/>
              </a:rPr>
              <a:t>El cuerpo de build.gradle corre siempre, en configuración.</a:t>
            </a:r>
            <a:endParaRPr lang="en-US" sz="1600" dirty="0"/>
          </a:p>
          <a:p>
            <a:pPr marL="0" indent="0" algn="l">
              <a:lnSpc>
                <a:spcPts val="2400"/>
              </a:lnSpc>
              <a:buNone/>
            </a:pPr>
            <a:r>
              <a:rPr lang="en-US" sz="1600" dirty="0">
                <a:solidFill>
                  <a:srgbClr val="14213D"/>
                </a:solidFill>
                <a:latin typeface="DM Sans" pitchFamily="34" charset="0"/>
                <a:ea typeface="DM Sans" pitchFamily="34" charset="-122"/>
                <a:cs typeface="DM Sans" pitchFamily="34" charset="-120"/>
              </a:rPr>
              <a:t>doLast y @TaskAction corren solo en ejecución, si la tarea se ejecuta.</a:t>
            </a:r>
            <a:endParaRPr lang="en-US" sz="1600" dirty="0"/>
          </a:p>
        </p:txBody>
      </p:sp>
      <p:sp>
        <p:nvSpPr>
          <p:cNvPr id="19" name="Text 15"/>
          <p:cNvSpPr/>
          <p:nvPr/>
        </p:nvSpPr>
        <p:spPr>
          <a:xfrm>
            <a:off x="10058400" y="6238239"/>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580"/>
                </a:solidFill>
                <a:latin typeface="DM Sans" pitchFamily="34" charset="0"/>
                <a:ea typeface="DM Sans" pitchFamily="34" charset="-122"/>
                <a:cs typeface="DM Sans" pitchFamily="34" charset="-120"/>
              </a:rPr>
              <a:t>4 / 14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7F9"/>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B7A75"/>
                </a:solidFill>
                <a:latin typeface="DM Sans" pitchFamily="34" charset="0"/>
                <a:ea typeface="DM Sans" pitchFamily="34" charset="-122"/>
                <a:cs typeface="DM Sans" pitchFamily="34" charset="-120"/>
              </a:rPr>
              <a:t>GRADLE Y LOS PARADIGMAS · OBJETOS</a:t>
            </a:r>
            <a:endParaRPr lang="en-US" sz="1200" dirty="0"/>
          </a:p>
        </p:txBody>
      </p:sp>
      <p:sp>
        <p:nvSpPr>
          <p:cNvPr id="3" name="Text 1"/>
          <p:cNvSpPr>
            <a:spLocks noGrp="1"/>
          </p:cNvSpPr>
          <p:nvPr>
            <p:ph type="title"/>
          </p:nvPr>
        </p:nvSpPr>
        <p:spPr>
          <a:xfrm>
            <a:off x="812800" y="11023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DM Sans" pitchFamily="34" charset="0"/>
                <a:ea typeface="DM Sans" pitchFamily="34" charset="-122"/>
                <a:cs typeface="DM Sans" pitchFamily="34" charset="-120"/>
              </a:rPr>
              <a:t>El build es un grafo de objetos</a:t>
            </a:r>
            <a:endParaRPr lang="en-US" sz="3600" dirty="0"/>
          </a:p>
        </p:txBody>
      </p:sp>
      <p:sp>
        <p:nvSpPr>
          <p:cNvPr id="4" name="Shape 2"/>
          <p:cNvSpPr/>
          <p:nvPr/>
        </p:nvSpPr>
        <p:spPr>
          <a:xfrm>
            <a:off x="815975" y="1964057"/>
            <a:ext cx="3380264" cy="1517650"/>
          </a:xfrm>
          <a:prstGeom prst="roundRect">
            <a:avLst>
              <a:gd name="adj" fmla="val 6485"/>
            </a:avLst>
          </a:prstGeom>
          <a:solidFill>
            <a:srgbClr val="FCFCFD"/>
          </a:solidFill>
          <a:ln w="6350">
            <a:solidFill>
              <a:srgbClr val="DDE3EC"/>
            </a:solidFill>
            <a:prstDash val="solid"/>
          </a:ln>
        </p:spPr>
        <p:txBody>
          <a:bodyPr/>
          <a:lstStyle/>
          <a:p>
            <a:endParaRPr lang="es-AR"/>
          </a:p>
        </p:txBody>
      </p:sp>
      <p:sp>
        <p:nvSpPr>
          <p:cNvPr id="5" name="Text 3"/>
          <p:cNvSpPr/>
          <p:nvPr/>
        </p:nvSpPr>
        <p:spPr>
          <a:xfrm>
            <a:off x="1071880" y="2219961"/>
            <a:ext cx="2954507"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4213D"/>
                </a:solidFill>
                <a:latin typeface="DM Sans" pitchFamily="34" charset="0"/>
                <a:ea typeface="DM Sans" pitchFamily="34" charset="-122"/>
                <a:cs typeface="DM Sans" pitchFamily="34" charset="-120"/>
              </a:rPr>
              <a:t>Settings</a:t>
            </a:r>
            <a:endParaRPr lang="en-US" sz="2200" dirty="0"/>
          </a:p>
        </p:txBody>
      </p:sp>
      <p:sp>
        <p:nvSpPr>
          <p:cNvPr id="6" name="Text 4"/>
          <p:cNvSpPr/>
          <p:nvPr/>
        </p:nvSpPr>
        <p:spPr>
          <a:xfrm>
            <a:off x="1071880" y="2656839"/>
            <a:ext cx="2954507"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4506A"/>
                </a:solidFill>
                <a:latin typeface="DM Sans" pitchFamily="34" charset="0"/>
                <a:ea typeface="DM Sans" pitchFamily="34" charset="-122"/>
                <a:cs typeface="DM Sans" pitchFamily="34" charset="-120"/>
              </a:rPr>
              <a:t>Se evalúa primero y define qué proyectos hay.</a:t>
            </a:r>
            <a:endParaRPr lang="en-US" sz="1600" dirty="0"/>
          </a:p>
        </p:txBody>
      </p:sp>
      <p:sp>
        <p:nvSpPr>
          <p:cNvPr id="7" name="Shape 5"/>
          <p:cNvSpPr/>
          <p:nvPr/>
        </p:nvSpPr>
        <p:spPr>
          <a:xfrm>
            <a:off x="4405789" y="1964057"/>
            <a:ext cx="3380343" cy="1517650"/>
          </a:xfrm>
          <a:prstGeom prst="roundRect">
            <a:avLst>
              <a:gd name="adj" fmla="val 6485"/>
            </a:avLst>
          </a:prstGeom>
          <a:solidFill>
            <a:srgbClr val="FCFCFD"/>
          </a:solidFill>
          <a:ln w="6350">
            <a:solidFill>
              <a:srgbClr val="DDE3EC"/>
            </a:solidFill>
            <a:prstDash val="solid"/>
          </a:ln>
        </p:spPr>
        <p:txBody>
          <a:bodyPr/>
          <a:lstStyle/>
          <a:p>
            <a:endParaRPr lang="es-AR"/>
          </a:p>
        </p:txBody>
      </p:sp>
      <p:sp>
        <p:nvSpPr>
          <p:cNvPr id="8" name="Text 6"/>
          <p:cNvSpPr/>
          <p:nvPr/>
        </p:nvSpPr>
        <p:spPr>
          <a:xfrm>
            <a:off x="4661694" y="2219961"/>
            <a:ext cx="2954589"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4213D"/>
                </a:solidFill>
                <a:latin typeface="DM Sans" pitchFamily="34" charset="0"/>
                <a:ea typeface="DM Sans" pitchFamily="34" charset="-122"/>
                <a:cs typeface="DM Sans" pitchFamily="34" charset="-120"/>
              </a:rPr>
              <a:t>Project</a:t>
            </a:r>
            <a:endParaRPr lang="en-US" sz="2200" dirty="0"/>
          </a:p>
        </p:txBody>
      </p:sp>
      <p:sp>
        <p:nvSpPr>
          <p:cNvPr id="9" name="Text 7"/>
          <p:cNvSpPr/>
          <p:nvPr/>
        </p:nvSpPr>
        <p:spPr>
          <a:xfrm>
            <a:off x="4661694" y="2656839"/>
            <a:ext cx="2954589"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4506A"/>
                </a:solidFill>
                <a:latin typeface="DM Sans" pitchFamily="34" charset="0"/>
                <a:ea typeface="DM Sans" pitchFamily="34" charset="-122"/>
                <a:cs typeface="DM Sans" pitchFamily="34" charset="-120"/>
              </a:rPr>
              <a:t>Reúne tareas, plugins y dependencias.</a:t>
            </a:r>
            <a:endParaRPr lang="en-US" sz="1600" dirty="0"/>
          </a:p>
        </p:txBody>
      </p:sp>
      <p:sp>
        <p:nvSpPr>
          <p:cNvPr id="10" name="Shape 8"/>
          <p:cNvSpPr/>
          <p:nvPr/>
        </p:nvSpPr>
        <p:spPr>
          <a:xfrm>
            <a:off x="7995682" y="1964057"/>
            <a:ext cx="3380343" cy="1517650"/>
          </a:xfrm>
          <a:prstGeom prst="roundRect">
            <a:avLst>
              <a:gd name="adj" fmla="val 6485"/>
            </a:avLst>
          </a:prstGeom>
          <a:solidFill>
            <a:srgbClr val="FCFCFD"/>
          </a:solidFill>
          <a:ln w="6350">
            <a:solidFill>
              <a:srgbClr val="DDE3EC"/>
            </a:solidFill>
            <a:prstDash val="solid"/>
          </a:ln>
        </p:spPr>
        <p:txBody>
          <a:bodyPr/>
          <a:lstStyle/>
          <a:p>
            <a:endParaRPr lang="es-AR"/>
          </a:p>
        </p:txBody>
      </p:sp>
      <p:sp>
        <p:nvSpPr>
          <p:cNvPr id="11" name="Text 9"/>
          <p:cNvSpPr/>
          <p:nvPr/>
        </p:nvSpPr>
        <p:spPr>
          <a:xfrm>
            <a:off x="8251587" y="2219961"/>
            <a:ext cx="2954589"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4213D"/>
                </a:solidFill>
                <a:latin typeface="DM Sans" pitchFamily="34" charset="0"/>
                <a:ea typeface="DM Sans" pitchFamily="34" charset="-122"/>
                <a:cs typeface="DM Sans" pitchFamily="34" charset="-120"/>
              </a:rPr>
              <a:t>Task</a:t>
            </a:r>
            <a:endParaRPr lang="en-US" sz="2200" dirty="0"/>
          </a:p>
        </p:txBody>
      </p:sp>
      <p:sp>
        <p:nvSpPr>
          <p:cNvPr id="12" name="Text 10"/>
          <p:cNvSpPr/>
          <p:nvPr/>
        </p:nvSpPr>
        <p:spPr>
          <a:xfrm>
            <a:off x="8251587" y="2656839"/>
            <a:ext cx="2954589"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4506A"/>
                </a:solidFill>
                <a:latin typeface="DM Sans" pitchFamily="34" charset="0"/>
                <a:ea typeface="DM Sans" pitchFamily="34" charset="-122"/>
                <a:cs typeface="DM Sans" pitchFamily="34" charset="-120"/>
              </a:rPr>
              <a:t>La unidad de trabajo que se ejecuta.</a:t>
            </a:r>
            <a:endParaRPr lang="en-US" sz="1600" dirty="0"/>
          </a:p>
        </p:txBody>
      </p:sp>
      <p:sp>
        <p:nvSpPr>
          <p:cNvPr id="13" name="Shape 11"/>
          <p:cNvSpPr/>
          <p:nvPr/>
        </p:nvSpPr>
        <p:spPr>
          <a:xfrm>
            <a:off x="812800" y="3840482"/>
            <a:ext cx="10566400" cy="899160"/>
          </a:xfrm>
          <a:prstGeom prst="roundRect">
            <a:avLst>
              <a:gd name="adj" fmla="val 11299"/>
            </a:avLst>
          </a:prstGeom>
          <a:solidFill>
            <a:srgbClr val="14213D"/>
          </a:solidFill>
          <a:ln/>
        </p:spPr>
        <p:txBody>
          <a:bodyPr/>
          <a:lstStyle/>
          <a:p>
            <a:endParaRPr lang="es-AR"/>
          </a:p>
        </p:txBody>
      </p:sp>
      <p:sp>
        <p:nvSpPr>
          <p:cNvPr id="14" name="Text 12"/>
          <p:cNvSpPr/>
          <p:nvPr/>
        </p:nvSpPr>
        <p:spPr>
          <a:xfrm>
            <a:off x="1117600" y="4094482"/>
            <a:ext cx="2885440" cy="41656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7FE0D2"/>
                </a:solidFill>
                <a:latin typeface="JetBrains Mono" pitchFamily="49" charset="0"/>
                <a:ea typeface="JetBrains Mono" pitchFamily="49" charset="-122"/>
                <a:cs typeface="JetBrains Mono" pitchFamily="49" charset="-120"/>
              </a:rPr>
              <a:t>repositories { }</a:t>
            </a:r>
            <a:endParaRPr lang="en-US" sz="2200" dirty="0"/>
          </a:p>
        </p:txBody>
      </p:sp>
      <p:sp>
        <p:nvSpPr>
          <p:cNvPr id="15" name="Text 13"/>
          <p:cNvSpPr/>
          <p:nvPr/>
        </p:nvSpPr>
        <p:spPr>
          <a:xfrm>
            <a:off x="4003040" y="4094482"/>
            <a:ext cx="6169914" cy="416560"/>
          </a:xfrm>
          <a:prstGeom prst="rect">
            <a:avLst/>
          </a:prstGeom>
          <a:noFill/>
          <a:ln/>
        </p:spPr>
        <p:txBody>
          <a:bodyPr wrap="square" lIns="0" tIns="0" rIns="0" bIns="0" rtlCol="0" anchor="t">
            <a:normAutofit/>
          </a:bodyPr>
          <a:lstStyle/>
          <a:p>
            <a:pPr marL="0" indent="0" algn="l">
              <a:lnSpc>
                <a:spcPts val="3080"/>
              </a:lnSpc>
              <a:buNone/>
            </a:pPr>
            <a:r>
              <a:rPr lang="en-US" sz="2200" dirty="0">
                <a:solidFill>
                  <a:srgbClr val="F6F7F9"/>
                </a:solidFill>
                <a:latin typeface="DM Sans" pitchFamily="34" charset="0"/>
                <a:ea typeface="DM Sans" pitchFamily="34" charset="-122"/>
                <a:cs typeface="DM Sans" pitchFamily="34" charset="-120"/>
              </a:rPr>
              <a:t>es un mensaje enviado al objeto Project</a:t>
            </a:r>
            <a:endParaRPr lang="en-US" sz="2200" dirty="0"/>
          </a:p>
        </p:txBody>
      </p:sp>
      <p:sp>
        <p:nvSpPr>
          <p:cNvPr id="16" name="Text 14"/>
          <p:cNvSpPr/>
          <p:nvPr/>
        </p:nvSpPr>
        <p:spPr>
          <a:xfrm>
            <a:off x="10058400" y="6238239"/>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580"/>
                </a:solidFill>
                <a:latin typeface="DM Sans" pitchFamily="34" charset="0"/>
                <a:ea typeface="DM Sans" pitchFamily="34" charset="-122"/>
                <a:cs typeface="DM Sans" pitchFamily="34" charset="-120"/>
              </a:rPr>
              <a:t>5 / 14</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7F9"/>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B7A75"/>
                </a:solidFill>
                <a:latin typeface="DM Sans" pitchFamily="34" charset="0"/>
                <a:ea typeface="DM Sans" pitchFamily="34" charset="-122"/>
                <a:cs typeface="DM Sans" pitchFamily="34" charset="-120"/>
              </a:rPr>
              <a:t>GRADLE Y LOS PARADIGMAS · INTERFACES</a:t>
            </a:r>
            <a:endParaRPr lang="en-US" sz="1200" dirty="0"/>
          </a:p>
        </p:txBody>
      </p:sp>
      <p:sp>
        <p:nvSpPr>
          <p:cNvPr id="3" name="Text 1"/>
          <p:cNvSpPr>
            <a:spLocks noGrp="1"/>
          </p:cNvSpPr>
          <p:nvPr>
            <p:ph type="title"/>
          </p:nvPr>
        </p:nvSpPr>
        <p:spPr>
          <a:xfrm>
            <a:off x="812800" y="11023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DM Sans" pitchFamily="34" charset="0"/>
                <a:ea typeface="DM Sans" pitchFamily="34" charset="-122"/>
                <a:cs typeface="DM Sans" pitchFamily="34" charset="-120"/>
              </a:rPr>
              <a:t>Plugins: programar contra interfaces</a:t>
            </a:r>
            <a:endParaRPr lang="en-US" sz="3600" dirty="0"/>
          </a:p>
        </p:txBody>
      </p:sp>
      <p:sp>
        <p:nvSpPr>
          <p:cNvPr id="4" name="Text 2"/>
          <p:cNvSpPr/>
          <p:nvPr/>
        </p:nvSpPr>
        <p:spPr>
          <a:xfrm>
            <a:off x="812800" y="1960882"/>
            <a:ext cx="4876800" cy="1752600"/>
          </a:xfrm>
          <a:prstGeom prst="roundRect">
            <a:avLst>
              <a:gd name="adj" fmla="val 5797"/>
            </a:avLst>
          </a:prstGeom>
          <a:solidFill>
            <a:srgbClr val="14213D"/>
          </a:solidFill>
          <a:ln/>
        </p:spPr>
        <p:txBody>
          <a:bodyPr wrap="square" lIns="275042" tIns="275042" rIns="147026" bIns="249642" rtlCol="0" anchor="t">
            <a:normAutofit/>
          </a:bodyPr>
          <a:lstStyle/>
          <a:p>
            <a:pPr marL="0" indent="0" algn="l">
              <a:lnSpc>
                <a:spcPts val="3000"/>
              </a:lnSpc>
              <a:buNone/>
            </a:pPr>
            <a:r>
              <a:rPr lang="en-US" sz="2000" dirty="0">
                <a:solidFill>
                  <a:srgbClr val="F6F7F9"/>
                </a:solidFill>
                <a:latin typeface="JetBrains Mono" pitchFamily="49" charset="0"/>
                <a:ea typeface="JetBrains Mono" pitchFamily="49" charset="-122"/>
                <a:cs typeface="JetBrains Mono" pitchFamily="49" charset="-120"/>
              </a:rPr>
              <a:t>public interface Plugin&lt;T&gt; {</a:t>
            </a:r>
            <a:endParaRPr lang="en-US" sz="2000" dirty="0"/>
          </a:p>
          <a:p>
            <a:pPr marL="0" indent="0" algn="l">
              <a:lnSpc>
                <a:spcPts val="3000"/>
              </a:lnSpc>
              <a:buNone/>
            </a:pPr>
            <a:r>
              <a:rPr lang="en-US" sz="2000" dirty="0">
                <a:solidFill>
                  <a:srgbClr val="F6F7F9"/>
                </a:solidFill>
                <a:latin typeface="JetBrains Mono" pitchFamily="49" charset="0"/>
                <a:ea typeface="JetBrains Mono" pitchFamily="49" charset="-122"/>
                <a:cs typeface="JetBrains Mono" pitchFamily="49" charset="-120"/>
              </a:rPr>
              <a:t>    void apply(T target);</a:t>
            </a:r>
            <a:endParaRPr lang="en-US" sz="2000" dirty="0"/>
          </a:p>
          <a:p>
            <a:pPr marL="0" indent="0" algn="l">
              <a:lnSpc>
                <a:spcPts val="3000"/>
              </a:lnSpc>
              <a:buNone/>
            </a:pPr>
            <a:r>
              <a:rPr lang="en-US" sz="2000" dirty="0">
                <a:solidFill>
                  <a:srgbClr val="F6F7F9"/>
                </a:solidFill>
                <a:latin typeface="JetBrains Mono" pitchFamily="49" charset="0"/>
                <a:ea typeface="JetBrains Mono" pitchFamily="49" charset="-122"/>
                <a:cs typeface="JetBrains Mono" pitchFamily="49" charset="-120"/>
              </a:rPr>
              <a:t>}</a:t>
            </a:r>
            <a:endParaRPr lang="en-US" sz="2000" dirty="0"/>
          </a:p>
        </p:txBody>
      </p:sp>
      <p:sp>
        <p:nvSpPr>
          <p:cNvPr id="5" name="Text 3"/>
          <p:cNvSpPr/>
          <p:nvPr/>
        </p:nvSpPr>
        <p:spPr>
          <a:xfrm>
            <a:off x="6045200" y="2039621"/>
            <a:ext cx="5494020"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4213D"/>
                </a:solidFill>
                <a:latin typeface="DM Sans" pitchFamily="34" charset="0"/>
                <a:ea typeface="DM Sans" pitchFamily="34" charset="-122"/>
                <a:cs typeface="DM Sans" pitchFamily="34" charset="-120"/>
              </a:rPr>
              <a:t>Polimorfismo</a:t>
            </a:r>
            <a:endParaRPr lang="en-US" sz="2200" dirty="0"/>
          </a:p>
        </p:txBody>
      </p:sp>
      <p:sp>
        <p:nvSpPr>
          <p:cNvPr id="6" name="Text 4"/>
          <p:cNvSpPr/>
          <p:nvPr/>
        </p:nvSpPr>
        <p:spPr>
          <a:xfrm>
            <a:off x="6045200" y="2425700"/>
            <a:ext cx="5494020"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4506A"/>
                </a:solidFill>
                <a:latin typeface="DM Sans" pitchFamily="34" charset="0"/>
                <a:ea typeface="DM Sans" pitchFamily="34" charset="-122"/>
                <a:cs typeface="DM Sans" pitchFamily="34" charset="-120"/>
              </a:rPr>
              <a:t>Gradle llama a apply() sin saber qué plugin es.</a:t>
            </a:r>
            <a:endParaRPr lang="en-US" sz="1600" dirty="0"/>
          </a:p>
        </p:txBody>
      </p:sp>
      <p:sp>
        <p:nvSpPr>
          <p:cNvPr id="7" name="Text 5"/>
          <p:cNvSpPr/>
          <p:nvPr/>
        </p:nvSpPr>
        <p:spPr>
          <a:xfrm>
            <a:off x="6045200" y="2964182"/>
            <a:ext cx="5494020"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4213D"/>
                </a:solidFill>
                <a:latin typeface="DM Sans" pitchFamily="34" charset="0"/>
                <a:ea typeface="DM Sans" pitchFamily="34" charset="-122"/>
                <a:cs typeface="DM Sans" pitchFamily="34" charset="-120"/>
              </a:rPr>
              <a:t>Abierto / cerrado</a:t>
            </a:r>
            <a:endParaRPr lang="en-US" sz="2200" dirty="0"/>
          </a:p>
        </p:txBody>
      </p:sp>
      <p:sp>
        <p:nvSpPr>
          <p:cNvPr id="8" name="Text 6"/>
          <p:cNvSpPr/>
          <p:nvPr/>
        </p:nvSpPr>
        <p:spPr>
          <a:xfrm>
            <a:off x="6045200" y="3350261"/>
            <a:ext cx="5494020"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4506A"/>
                </a:solidFill>
                <a:latin typeface="DM Sans" pitchFamily="34" charset="0"/>
                <a:ea typeface="DM Sans" pitchFamily="34" charset="-122"/>
                <a:cs typeface="DM Sans" pitchFamily="34" charset="-120"/>
              </a:rPr>
              <a:t>Se agregan plugins sin tocar el núcleo de Gradle.</a:t>
            </a:r>
            <a:endParaRPr lang="en-US" sz="1600" dirty="0"/>
          </a:p>
        </p:txBody>
      </p:sp>
      <p:sp>
        <p:nvSpPr>
          <p:cNvPr id="9" name="Text 7"/>
          <p:cNvSpPr/>
          <p:nvPr/>
        </p:nvSpPr>
        <p:spPr>
          <a:xfrm>
            <a:off x="10058400" y="6238239"/>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580"/>
                </a:solidFill>
                <a:latin typeface="DM Sans" pitchFamily="34" charset="0"/>
                <a:ea typeface="DM Sans" pitchFamily="34" charset="-122"/>
                <a:cs typeface="DM Sans" pitchFamily="34" charset="-120"/>
              </a:rPr>
              <a:t>6 / 14</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7F9"/>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B7A75"/>
                </a:solidFill>
                <a:latin typeface="DM Sans" pitchFamily="34" charset="0"/>
                <a:ea typeface="DM Sans" pitchFamily="34" charset="-122"/>
                <a:cs typeface="DM Sans" pitchFamily="34" charset="-120"/>
              </a:rPr>
              <a:t>GRADLE Y LOS PARADIGMAS · HERENCIA</a:t>
            </a:r>
            <a:endParaRPr lang="en-US" sz="1200" dirty="0"/>
          </a:p>
        </p:txBody>
      </p:sp>
      <p:sp>
        <p:nvSpPr>
          <p:cNvPr id="3" name="Text 1"/>
          <p:cNvSpPr>
            <a:spLocks noGrp="1"/>
          </p:cNvSpPr>
          <p:nvPr>
            <p:ph type="title"/>
          </p:nvPr>
        </p:nvSpPr>
        <p:spPr>
          <a:xfrm>
            <a:off x="812800" y="11023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DM Sans" pitchFamily="34" charset="0"/>
                <a:ea typeface="DM Sans" pitchFamily="34" charset="-122"/>
                <a:cs typeface="DM Sans" pitchFamily="34" charset="-120"/>
              </a:rPr>
              <a:t>Herencia: las tareas propias</a:t>
            </a:r>
            <a:endParaRPr lang="en-US" sz="3600" dirty="0"/>
          </a:p>
        </p:txBody>
      </p:sp>
      <p:sp>
        <p:nvSpPr>
          <p:cNvPr id="4" name="Text 2"/>
          <p:cNvSpPr/>
          <p:nvPr/>
        </p:nvSpPr>
        <p:spPr>
          <a:xfrm>
            <a:off x="812800" y="1960882"/>
            <a:ext cx="4861560" cy="2667000"/>
          </a:xfrm>
          <a:prstGeom prst="roundRect">
            <a:avLst>
              <a:gd name="adj" fmla="val 3810"/>
            </a:avLst>
          </a:prstGeom>
          <a:solidFill>
            <a:srgbClr val="14213D"/>
          </a:solidFill>
          <a:ln/>
        </p:spPr>
        <p:txBody>
          <a:bodyPr wrap="square" lIns="275042" tIns="275042" rIns="147484" bIns="249642" rtlCol="0" anchor="t">
            <a:normAutofit/>
          </a:bodyPr>
          <a:lstStyle/>
          <a:p>
            <a:pPr marL="0" indent="0" algn="l">
              <a:lnSpc>
                <a:spcPts val="2700"/>
              </a:lnSpc>
              <a:buNone/>
            </a:pPr>
            <a:r>
              <a:rPr lang="en-US" sz="1800" dirty="0">
                <a:solidFill>
                  <a:srgbClr val="F6F7F9"/>
                </a:solidFill>
                <a:latin typeface="JetBrains Mono" pitchFamily="49" charset="0"/>
                <a:ea typeface="JetBrains Mono" pitchFamily="49" charset="-122"/>
                <a:cs typeface="JetBrains Mono" pitchFamily="49" charset="-120"/>
              </a:rPr>
              <a:t>abstract class InfoProyectoTask</a:t>
            </a:r>
            <a:endParaRPr lang="en-US" sz="1800" dirty="0"/>
          </a:p>
          <a:p>
            <a:pPr marL="0" indent="0" algn="l">
              <a:lnSpc>
                <a:spcPts val="2700"/>
              </a:lnSpc>
              <a:buNone/>
            </a:pPr>
            <a:r>
              <a:rPr lang="en-US" sz="1800" dirty="0">
                <a:solidFill>
                  <a:srgbClr val="F6F7F9"/>
                </a:solidFill>
                <a:latin typeface="JetBrains Mono" pitchFamily="49" charset="0"/>
                <a:ea typeface="JetBrains Mono" pitchFamily="49" charset="-122"/>
                <a:cs typeface="JetBrains Mono" pitchFamily="49" charset="-120"/>
              </a:rPr>
              <a:t>    extends DefaultTask {</a:t>
            </a:r>
            <a:endParaRPr lang="en-US" sz="1800" dirty="0"/>
          </a:p>
          <a:p>
            <a:pPr marL="0" indent="0" algn="l">
              <a:lnSpc>
                <a:spcPts val="2700"/>
              </a:lnSpc>
              <a:buNone/>
            </a:pPr>
            <a:endParaRPr lang="en-US" sz="1800" dirty="0"/>
          </a:p>
          <a:p>
            <a:pPr marL="0" indent="0" algn="l">
              <a:lnSpc>
                <a:spcPts val="2700"/>
              </a:lnSpc>
              <a:buNone/>
            </a:pPr>
            <a:r>
              <a:rPr lang="en-US" sz="1800" dirty="0">
                <a:solidFill>
                  <a:srgbClr val="F6F7F9"/>
                </a:solidFill>
                <a:latin typeface="JetBrains Mono" pitchFamily="49" charset="0"/>
                <a:ea typeface="JetBrains Mono" pitchFamily="49" charset="-122"/>
                <a:cs typeface="JetBrains Mono" pitchFamily="49" charset="-120"/>
              </a:rPr>
              <a:t>  @TaskAction</a:t>
            </a:r>
            <a:endParaRPr lang="en-US" sz="1800" dirty="0"/>
          </a:p>
          <a:p>
            <a:pPr marL="0" indent="0" algn="l">
              <a:lnSpc>
                <a:spcPts val="2700"/>
              </a:lnSpc>
              <a:buNone/>
            </a:pPr>
            <a:r>
              <a:rPr lang="en-US" sz="1800" dirty="0">
                <a:solidFill>
                  <a:srgbClr val="F6F7F9"/>
                </a:solidFill>
                <a:latin typeface="JetBrains Mono" pitchFamily="49" charset="0"/>
                <a:ea typeface="JetBrains Mono" pitchFamily="49" charset="-122"/>
                <a:cs typeface="JetBrains Mono" pitchFamily="49" charset="-120"/>
              </a:rPr>
              <a:t>  void mostrarInfo() { ... }</a:t>
            </a:r>
            <a:endParaRPr lang="en-US" sz="1800" dirty="0"/>
          </a:p>
          <a:p>
            <a:pPr marL="0" indent="0" algn="l">
              <a:lnSpc>
                <a:spcPts val="2700"/>
              </a:lnSpc>
              <a:buNone/>
            </a:pPr>
            <a:r>
              <a:rPr lang="en-US" sz="1800" dirty="0">
                <a:solidFill>
                  <a:srgbClr val="F6F7F9"/>
                </a:solidFill>
                <a:latin typeface="JetBrains Mono" pitchFamily="49" charset="0"/>
                <a:ea typeface="JetBrains Mono" pitchFamily="49" charset="-122"/>
                <a:cs typeface="JetBrains Mono" pitchFamily="49" charset="-120"/>
              </a:rPr>
              <a:t>}</a:t>
            </a:r>
            <a:endParaRPr lang="en-US" sz="1800" dirty="0"/>
          </a:p>
        </p:txBody>
      </p:sp>
      <p:sp>
        <p:nvSpPr>
          <p:cNvPr id="5" name="Text 3"/>
          <p:cNvSpPr/>
          <p:nvPr/>
        </p:nvSpPr>
        <p:spPr>
          <a:xfrm>
            <a:off x="6029960" y="2227582"/>
            <a:ext cx="5509717"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4213D"/>
                </a:solidFill>
                <a:latin typeface="DM Sans" pitchFamily="34" charset="0"/>
                <a:ea typeface="DM Sans" pitchFamily="34" charset="-122"/>
                <a:cs typeface="DM Sans" pitchFamily="34" charset="-120"/>
              </a:rPr>
              <a:t>Es una subclase</a:t>
            </a:r>
            <a:endParaRPr lang="en-US" sz="2200" dirty="0"/>
          </a:p>
        </p:txBody>
      </p:sp>
      <p:sp>
        <p:nvSpPr>
          <p:cNvPr id="6" name="Text 4"/>
          <p:cNvSpPr/>
          <p:nvPr/>
        </p:nvSpPr>
        <p:spPr>
          <a:xfrm>
            <a:off x="6029960" y="2613661"/>
            <a:ext cx="5509717"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4506A"/>
                </a:solidFill>
                <a:latin typeface="DM Sans" pitchFamily="34" charset="0"/>
                <a:ea typeface="DM Sans" pitchFamily="34" charset="-122"/>
                <a:cs typeface="DM Sans" pitchFamily="34" charset="-120"/>
              </a:rPr>
              <a:t>Hereda de DefaultTask.</a:t>
            </a:r>
            <a:endParaRPr lang="en-US" sz="1600" dirty="0"/>
          </a:p>
        </p:txBody>
      </p:sp>
      <p:sp>
        <p:nvSpPr>
          <p:cNvPr id="7" name="Text 5"/>
          <p:cNvSpPr/>
          <p:nvPr/>
        </p:nvSpPr>
        <p:spPr>
          <a:xfrm>
            <a:off x="6029960" y="3152139"/>
            <a:ext cx="5509717"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4213D"/>
                </a:solidFill>
                <a:latin typeface="DM Sans" pitchFamily="34" charset="0"/>
                <a:ea typeface="DM Sans" pitchFamily="34" charset="-122"/>
                <a:cs typeface="DM Sans" pitchFamily="34" charset="-120"/>
              </a:rPr>
              <a:t>@TaskAction</a:t>
            </a:r>
            <a:endParaRPr lang="en-US" sz="2200" dirty="0"/>
          </a:p>
        </p:txBody>
      </p:sp>
      <p:sp>
        <p:nvSpPr>
          <p:cNvPr id="8" name="Text 6"/>
          <p:cNvSpPr/>
          <p:nvPr/>
        </p:nvSpPr>
        <p:spPr>
          <a:xfrm>
            <a:off x="6029960" y="3538221"/>
            <a:ext cx="5509717"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4506A"/>
                </a:solidFill>
                <a:latin typeface="DM Sans" pitchFamily="34" charset="0"/>
                <a:ea typeface="DM Sans" pitchFamily="34" charset="-122"/>
                <a:cs typeface="DM Sans" pitchFamily="34" charset="-120"/>
              </a:rPr>
              <a:t>Marca el método que corre en ejecución.</a:t>
            </a:r>
            <a:endParaRPr lang="en-US" sz="1600" dirty="0"/>
          </a:p>
        </p:txBody>
      </p:sp>
      <p:sp>
        <p:nvSpPr>
          <p:cNvPr id="9" name="Text 7"/>
          <p:cNvSpPr/>
          <p:nvPr/>
        </p:nvSpPr>
        <p:spPr>
          <a:xfrm>
            <a:off x="6029960" y="4076700"/>
            <a:ext cx="5509717"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0B7A75"/>
                </a:solidFill>
                <a:latin typeface="DM Sans" pitchFamily="34" charset="0"/>
                <a:ea typeface="DM Sans" pitchFamily="34" charset="-122"/>
                <a:cs typeface="DM Sans" pitchFamily="34" charset="-120"/>
              </a:rPr>
              <a:t>La vemos en la demo: infoProyecto</a:t>
            </a:r>
            <a:endParaRPr lang="en-US" sz="1600" dirty="0"/>
          </a:p>
        </p:txBody>
      </p:sp>
      <p:sp>
        <p:nvSpPr>
          <p:cNvPr id="10" name="Text 8"/>
          <p:cNvSpPr/>
          <p:nvPr/>
        </p:nvSpPr>
        <p:spPr>
          <a:xfrm>
            <a:off x="10058400" y="6238239"/>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580"/>
                </a:solidFill>
                <a:latin typeface="DM Sans" pitchFamily="34" charset="0"/>
                <a:ea typeface="DM Sans" pitchFamily="34" charset="-122"/>
                <a:cs typeface="DM Sans" pitchFamily="34" charset="-120"/>
              </a:rPr>
              <a:t>7 / 14</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8ED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B7A75"/>
                </a:solidFill>
                <a:latin typeface="DM Sans" pitchFamily="34" charset="0"/>
                <a:ea typeface="DM Sans" pitchFamily="34" charset="-122"/>
                <a:cs typeface="DM Sans" pitchFamily="34" charset="-120"/>
              </a:rPr>
              <a:t>GRADLE Y LOS PARADIGMAS · DSL</a:t>
            </a:r>
            <a:endParaRPr lang="en-US" sz="1200" dirty="0"/>
          </a:p>
        </p:txBody>
      </p:sp>
      <p:sp>
        <p:nvSpPr>
          <p:cNvPr id="3" name="Text 1"/>
          <p:cNvSpPr>
            <a:spLocks noGrp="1"/>
          </p:cNvSpPr>
          <p:nvPr>
            <p:ph type="title"/>
          </p:nvPr>
        </p:nvSpPr>
        <p:spPr>
          <a:xfrm>
            <a:off x="812800" y="1102361"/>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DM Sans" pitchFamily="34" charset="0"/>
                <a:ea typeface="DM Sans" pitchFamily="34" charset="-122"/>
                <a:cs typeface="DM Sans" pitchFamily="34" charset="-120"/>
              </a:rPr>
              <a:t>Declarativo con descenso a imperativo</a:t>
            </a:r>
            <a:endParaRPr lang="en-US" sz="3600" dirty="0"/>
          </a:p>
        </p:txBody>
      </p:sp>
      <p:sp>
        <p:nvSpPr>
          <p:cNvPr id="4" name="Shape 2"/>
          <p:cNvSpPr/>
          <p:nvPr/>
        </p:nvSpPr>
        <p:spPr>
          <a:xfrm>
            <a:off x="815975" y="1964057"/>
            <a:ext cx="5165090" cy="2188210"/>
          </a:xfrm>
          <a:prstGeom prst="roundRect">
            <a:avLst>
              <a:gd name="adj" fmla="val 4498"/>
            </a:avLst>
          </a:prstGeom>
          <a:solidFill>
            <a:srgbClr val="FCFCFD"/>
          </a:solidFill>
          <a:ln w="6350">
            <a:solidFill>
              <a:srgbClr val="DDE3EC"/>
            </a:solidFill>
            <a:prstDash val="solid"/>
          </a:ln>
        </p:spPr>
        <p:txBody>
          <a:bodyPr/>
          <a:lstStyle/>
          <a:p>
            <a:endParaRPr lang="es-AR"/>
          </a:p>
        </p:txBody>
      </p:sp>
      <p:sp>
        <p:nvSpPr>
          <p:cNvPr id="5" name="Text 3"/>
          <p:cNvSpPr/>
          <p:nvPr/>
        </p:nvSpPr>
        <p:spPr>
          <a:xfrm>
            <a:off x="1071880" y="2219961"/>
            <a:ext cx="4792878"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84A0A"/>
                </a:solidFill>
                <a:latin typeface="DM Sans" pitchFamily="34" charset="0"/>
                <a:ea typeface="DM Sans" pitchFamily="34" charset="-122"/>
                <a:cs typeface="DM Sans" pitchFamily="34" charset="-120"/>
              </a:rPr>
              <a:t>MAVEN · XML</a:t>
            </a:r>
            <a:endParaRPr lang="en-US" sz="1200" dirty="0"/>
          </a:p>
        </p:txBody>
      </p:sp>
      <p:sp>
        <p:nvSpPr>
          <p:cNvPr id="6" name="Text 4"/>
          <p:cNvSpPr/>
          <p:nvPr/>
        </p:nvSpPr>
        <p:spPr>
          <a:xfrm>
            <a:off x="1071880" y="2534921"/>
            <a:ext cx="4792878"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4213D"/>
                </a:solidFill>
                <a:latin typeface="DM Sans" pitchFamily="34" charset="0"/>
                <a:ea typeface="DM Sans" pitchFamily="34" charset="-122"/>
                <a:cs typeface="DM Sans" pitchFamily="34" charset="-120"/>
              </a:rPr>
              <a:t>Declarativo puro</a:t>
            </a:r>
            <a:endParaRPr lang="en-US" sz="2200" dirty="0"/>
          </a:p>
        </p:txBody>
      </p:sp>
      <p:sp>
        <p:nvSpPr>
          <p:cNvPr id="7" name="Text 5"/>
          <p:cNvSpPr/>
          <p:nvPr/>
        </p:nvSpPr>
        <p:spPr>
          <a:xfrm>
            <a:off x="1071880" y="2971800"/>
            <a:ext cx="4792878"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4506A"/>
                </a:solidFill>
                <a:latin typeface="DM Sans" pitchFamily="34" charset="0"/>
                <a:ea typeface="DM Sans" pitchFamily="34" charset="-122"/>
                <a:cs typeface="DM Sans" pitchFamily="34" charset="-120"/>
              </a:rPr>
              <a:t>Solo describe lo que el proyecto necesita.</a:t>
            </a:r>
            <a:endParaRPr lang="en-US" sz="1600" dirty="0"/>
          </a:p>
        </p:txBody>
      </p:sp>
      <p:sp>
        <p:nvSpPr>
          <p:cNvPr id="8" name="Shape 6"/>
          <p:cNvSpPr/>
          <p:nvPr/>
        </p:nvSpPr>
        <p:spPr>
          <a:xfrm>
            <a:off x="6196965" y="1970407"/>
            <a:ext cx="5172710" cy="2175510"/>
          </a:xfrm>
          <a:prstGeom prst="roundRect">
            <a:avLst>
              <a:gd name="adj" fmla="val 4232"/>
            </a:avLst>
          </a:prstGeom>
          <a:solidFill>
            <a:srgbClr val="FCFCFD"/>
          </a:solidFill>
          <a:ln w="19050">
            <a:solidFill>
              <a:srgbClr val="0B7A75"/>
            </a:solidFill>
            <a:prstDash val="solid"/>
          </a:ln>
        </p:spPr>
        <p:txBody>
          <a:bodyPr/>
          <a:lstStyle/>
          <a:p>
            <a:endParaRPr lang="es-AR"/>
          </a:p>
        </p:txBody>
      </p:sp>
      <p:sp>
        <p:nvSpPr>
          <p:cNvPr id="9" name="Text 7"/>
          <p:cNvSpPr/>
          <p:nvPr/>
        </p:nvSpPr>
        <p:spPr>
          <a:xfrm>
            <a:off x="6456680" y="2230121"/>
            <a:ext cx="4792878"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7A75"/>
                </a:solidFill>
                <a:latin typeface="DM Sans" pitchFamily="34" charset="0"/>
                <a:ea typeface="DM Sans" pitchFamily="34" charset="-122"/>
                <a:cs typeface="DM Sans" pitchFamily="34" charset="-120"/>
              </a:rPr>
              <a:t>GRADLE · GROOVY O KOTLIN</a:t>
            </a:r>
            <a:endParaRPr lang="en-US" sz="1200" dirty="0"/>
          </a:p>
        </p:txBody>
      </p:sp>
      <p:sp>
        <p:nvSpPr>
          <p:cNvPr id="10" name="Text 8"/>
          <p:cNvSpPr/>
          <p:nvPr/>
        </p:nvSpPr>
        <p:spPr>
          <a:xfrm>
            <a:off x="6456680" y="2545082"/>
            <a:ext cx="4792878" cy="6959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4213D"/>
                </a:solidFill>
                <a:latin typeface="DM Sans" pitchFamily="34" charset="0"/>
                <a:ea typeface="DM Sans" pitchFamily="34" charset="-122"/>
                <a:cs typeface="DM Sans" pitchFamily="34" charset="-120"/>
              </a:rPr>
              <a:t>Declarativo, y si hace falta, imperativo</a:t>
            </a:r>
            <a:endParaRPr lang="en-US" sz="2200" dirty="0"/>
          </a:p>
        </p:txBody>
      </p:sp>
      <p:sp>
        <p:nvSpPr>
          <p:cNvPr id="11" name="Text 9"/>
          <p:cNvSpPr/>
          <p:nvPr/>
        </p:nvSpPr>
        <p:spPr>
          <a:xfrm>
            <a:off x="6456680" y="3317239"/>
            <a:ext cx="4792878"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4506A"/>
                </a:solidFill>
                <a:latin typeface="DM Sans" pitchFamily="34" charset="0"/>
                <a:ea typeface="DM Sans" pitchFamily="34" charset="-122"/>
                <a:cs typeface="DM Sans" pitchFamily="34" charset="-120"/>
              </a:rPr>
              <a:t>Es un lenguaje de objetos: se puede escribir lógica.</a:t>
            </a:r>
            <a:endParaRPr lang="en-US" sz="1600" dirty="0"/>
          </a:p>
        </p:txBody>
      </p:sp>
      <p:sp>
        <p:nvSpPr>
          <p:cNvPr id="12" name="Text 10"/>
          <p:cNvSpPr/>
          <p:nvPr/>
        </p:nvSpPr>
        <p:spPr>
          <a:xfrm>
            <a:off x="812800" y="4511042"/>
            <a:ext cx="1088339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13D"/>
                </a:solidFill>
                <a:latin typeface="DM Sans" pitchFamily="34" charset="0"/>
                <a:ea typeface="DM Sans" pitchFamily="34" charset="-122"/>
                <a:cs typeface="DM Sans" pitchFamily="34" charset="-120"/>
              </a:rPr>
              <a:t>Convención sobre configuración: </a:t>
            </a:r>
            <a:r>
              <a:rPr lang="en-US" sz="1600" b="1" dirty="0">
                <a:solidFill>
                  <a:srgbClr val="14213D"/>
                </a:solidFill>
                <a:latin typeface="DM Sans" pitchFamily="34" charset="0"/>
                <a:ea typeface="DM Sans" pitchFamily="34" charset="-122"/>
                <a:cs typeface="DM Sans" pitchFamily="34" charset="-120"/>
              </a:rPr>
              <a:t>src/main/java</a:t>
            </a:r>
            <a:r>
              <a:rPr lang="en-US" sz="1600" dirty="0">
                <a:solidFill>
                  <a:srgbClr val="14213D"/>
                </a:solidFill>
                <a:latin typeface="DM Sans" pitchFamily="34" charset="0"/>
                <a:ea typeface="DM Sans" pitchFamily="34" charset="-122"/>
                <a:cs typeface="DM Sans" pitchFamily="34" charset="-120"/>
              </a:rPr>
              <a:t> y </a:t>
            </a:r>
            <a:r>
              <a:rPr lang="en-US" sz="1600" b="1" dirty="0">
                <a:solidFill>
                  <a:srgbClr val="14213D"/>
                </a:solidFill>
                <a:latin typeface="DM Sans" pitchFamily="34" charset="0"/>
                <a:ea typeface="DM Sans" pitchFamily="34" charset="-122"/>
                <a:cs typeface="DM Sans" pitchFamily="34" charset="-120"/>
              </a:rPr>
              <a:t>src/test/java</a:t>
            </a:r>
            <a:endParaRPr lang="en-US" sz="1600" dirty="0"/>
          </a:p>
        </p:txBody>
      </p:sp>
      <p:sp>
        <p:nvSpPr>
          <p:cNvPr id="13" name="Text 11"/>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580"/>
                </a:solidFill>
                <a:latin typeface="DM Sans" pitchFamily="34" charset="0"/>
                <a:ea typeface="DM Sans" pitchFamily="34" charset="-122"/>
                <a:cs typeface="DM Sans" pitchFamily="34" charset="-120"/>
              </a:rPr>
              <a:t>8 / 14</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E8ED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B7A75"/>
                </a:solidFill>
                <a:latin typeface="DM Sans" pitchFamily="34" charset="0"/>
                <a:ea typeface="DM Sans" pitchFamily="34" charset="-122"/>
                <a:cs typeface="DM Sans" pitchFamily="34" charset="-120"/>
              </a:rPr>
              <a:t>GRADLE VS. MAVEN</a:t>
            </a:r>
            <a:endParaRPr lang="en-US" sz="1200" dirty="0"/>
          </a:p>
        </p:txBody>
      </p:sp>
      <p:sp>
        <p:nvSpPr>
          <p:cNvPr id="3" name="Text 1"/>
          <p:cNvSpPr>
            <a:spLocks noGrp="1"/>
          </p:cNvSpPr>
          <p:nvPr>
            <p:ph type="title"/>
          </p:nvPr>
        </p:nvSpPr>
        <p:spPr>
          <a:xfrm>
            <a:off x="812800" y="1102364"/>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DM Sans" pitchFamily="34" charset="0"/>
                <a:ea typeface="DM Sans" pitchFamily="34" charset="-122"/>
                <a:cs typeface="DM Sans" pitchFamily="34" charset="-120"/>
              </a:rPr>
              <a:t>La misma dependencia, dos enfoques</a:t>
            </a:r>
            <a:endParaRPr lang="en-US" sz="3600" dirty="0"/>
          </a:p>
        </p:txBody>
      </p:sp>
      <p:sp>
        <p:nvSpPr>
          <p:cNvPr id="4" name="Text 2"/>
          <p:cNvSpPr/>
          <p:nvPr/>
        </p:nvSpPr>
        <p:spPr>
          <a:xfrm>
            <a:off x="812800" y="1910079"/>
            <a:ext cx="5337048"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84A0A"/>
                </a:solidFill>
                <a:latin typeface="DM Sans" pitchFamily="34" charset="0"/>
                <a:ea typeface="DM Sans" pitchFamily="34" charset="-122"/>
                <a:cs typeface="DM Sans" pitchFamily="34" charset="-120"/>
              </a:rPr>
              <a:t>MAVEN · XML</a:t>
            </a:r>
            <a:endParaRPr lang="en-US" sz="1200" dirty="0"/>
          </a:p>
        </p:txBody>
      </p:sp>
      <p:sp>
        <p:nvSpPr>
          <p:cNvPr id="5" name="Text 3"/>
          <p:cNvSpPr/>
          <p:nvPr/>
        </p:nvSpPr>
        <p:spPr>
          <a:xfrm>
            <a:off x="812800" y="2225042"/>
            <a:ext cx="5181600" cy="1739900"/>
          </a:xfrm>
          <a:prstGeom prst="roundRect">
            <a:avLst>
              <a:gd name="adj" fmla="val 5839"/>
            </a:avLst>
          </a:prstGeom>
          <a:solidFill>
            <a:srgbClr val="14213D"/>
          </a:solidFill>
          <a:ln/>
        </p:spPr>
        <p:txBody>
          <a:bodyPr wrap="square" lIns="173442" tIns="173442" rIns="30186" bIns="148042" rtlCol="0" anchor="t">
            <a:normAutofit/>
          </a:bodyPr>
          <a:lstStyle/>
          <a:p>
            <a:pPr marL="0" indent="0" algn="l">
              <a:lnSpc>
                <a:spcPts val="2100"/>
              </a:lnSpc>
              <a:buNone/>
            </a:pPr>
            <a:r>
              <a:rPr lang="en-US" sz="1400" dirty="0">
                <a:solidFill>
                  <a:srgbClr val="F6F7F9"/>
                </a:solidFill>
                <a:latin typeface="JetBrains Mono" pitchFamily="49" charset="0"/>
                <a:ea typeface="JetBrains Mono" pitchFamily="49" charset="-122"/>
                <a:cs typeface="JetBrains Mono" pitchFamily="49" charset="-120"/>
              </a:rPr>
              <a:t>&lt;dependency&gt;</a:t>
            </a:r>
            <a:endParaRPr lang="en-US" sz="1400" dirty="0"/>
          </a:p>
          <a:p>
            <a:pPr marL="0" indent="0" algn="l">
              <a:lnSpc>
                <a:spcPts val="2100"/>
              </a:lnSpc>
              <a:buNone/>
            </a:pPr>
            <a:r>
              <a:rPr lang="en-US" sz="1400" dirty="0">
                <a:solidFill>
                  <a:srgbClr val="F6F7F9"/>
                </a:solidFill>
                <a:latin typeface="JetBrains Mono" pitchFamily="49" charset="0"/>
                <a:ea typeface="JetBrains Mono" pitchFamily="49" charset="-122"/>
                <a:cs typeface="JetBrains Mono" pitchFamily="49" charset="-120"/>
              </a:rPr>
              <a:t>    &lt;groupId&gt;org.junit.jupiter&lt;/groupId&gt;</a:t>
            </a:r>
            <a:endParaRPr lang="en-US" sz="1400" dirty="0"/>
          </a:p>
          <a:p>
            <a:pPr marL="0" indent="0" algn="l">
              <a:lnSpc>
                <a:spcPts val="2100"/>
              </a:lnSpc>
              <a:buNone/>
            </a:pPr>
            <a:r>
              <a:rPr lang="en-US" sz="1400" dirty="0">
                <a:solidFill>
                  <a:srgbClr val="F6F7F9"/>
                </a:solidFill>
                <a:latin typeface="JetBrains Mono" pitchFamily="49" charset="0"/>
                <a:ea typeface="JetBrains Mono" pitchFamily="49" charset="-122"/>
                <a:cs typeface="JetBrains Mono" pitchFamily="49" charset="-120"/>
              </a:rPr>
              <a:t>    &lt;artifactId&gt;junit-jupiter&lt;/artifactId&gt;</a:t>
            </a:r>
            <a:endParaRPr lang="en-US" sz="1400" dirty="0"/>
          </a:p>
          <a:p>
            <a:pPr marL="0" indent="0" algn="l">
              <a:lnSpc>
                <a:spcPts val="2100"/>
              </a:lnSpc>
              <a:buNone/>
            </a:pPr>
            <a:r>
              <a:rPr lang="en-US" sz="1400" dirty="0">
                <a:solidFill>
                  <a:srgbClr val="F6F7F9"/>
                </a:solidFill>
                <a:latin typeface="JetBrains Mono" pitchFamily="49" charset="0"/>
                <a:ea typeface="JetBrains Mono" pitchFamily="49" charset="-122"/>
                <a:cs typeface="JetBrains Mono" pitchFamily="49" charset="-120"/>
              </a:rPr>
              <a:t>    &lt;version&gt;5.14.4&lt;/version&gt;</a:t>
            </a:r>
            <a:endParaRPr lang="en-US" sz="1400" dirty="0"/>
          </a:p>
          <a:p>
            <a:pPr marL="0" indent="0" algn="l">
              <a:lnSpc>
                <a:spcPts val="2100"/>
              </a:lnSpc>
              <a:buNone/>
            </a:pPr>
            <a:r>
              <a:rPr lang="en-US" sz="1400" dirty="0">
                <a:solidFill>
                  <a:srgbClr val="F6F7F9"/>
                </a:solidFill>
                <a:latin typeface="JetBrains Mono" pitchFamily="49" charset="0"/>
                <a:ea typeface="JetBrains Mono" pitchFamily="49" charset="-122"/>
                <a:cs typeface="JetBrains Mono" pitchFamily="49" charset="-120"/>
              </a:rPr>
              <a:t>&lt;/dependency&gt;</a:t>
            </a:r>
            <a:endParaRPr lang="en-US" sz="1400" dirty="0"/>
          </a:p>
        </p:txBody>
      </p:sp>
      <p:sp>
        <p:nvSpPr>
          <p:cNvPr id="6" name="Text 4"/>
          <p:cNvSpPr/>
          <p:nvPr/>
        </p:nvSpPr>
        <p:spPr>
          <a:xfrm>
            <a:off x="6197600" y="1910079"/>
            <a:ext cx="5337048"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B7A75"/>
                </a:solidFill>
                <a:latin typeface="DM Sans" pitchFamily="34" charset="0"/>
                <a:ea typeface="DM Sans" pitchFamily="34" charset="-122"/>
                <a:cs typeface="DM Sans" pitchFamily="34" charset="-120"/>
              </a:rPr>
              <a:t>GRADLE · GROOVY</a:t>
            </a:r>
            <a:endParaRPr lang="en-US" sz="1200" dirty="0"/>
          </a:p>
        </p:txBody>
      </p:sp>
      <p:sp>
        <p:nvSpPr>
          <p:cNvPr id="7" name="Text 5"/>
          <p:cNvSpPr/>
          <p:nvPr/>
        </p:nvSpPr>
        <p:spPr>
          <a:xfrm>
            <a:off x="6197600" y="2225042"/>
            <a:ext cx="5181600" cy="939800"/>
          </a:xfrm>
          <a:prstGeom prst="roundRect">
            <a:avLst>
              <a:gd name="adj" fmla="val 10811"/>
            </a:avLst>
          </a:prstGeom>
          <a:solidFill>
            <a:srgbClr val="14213D"/>
          </a:solidFill>
          <a:ln/>
        </p:spPr>
        <p:txBody>
          <a:bodyPr wrap="square" lIns="173442" tIns="173442" rIns="30186" bIns="148042" rtlCol="0" anchor="t">
            <a:normAutofit/>
          </a:bodyPr>
          <a:lstStyle/>
          <a:p>
            <a:pPr marL="0" indent="0" algn="l">
              <a:lnSpc>
                <a:spcPts val="2100"/>
              </a:lnSpc>
              <a:buNone/>
            </a:pPr>
            <a:r>
              <a:rPr lang="en-US" sz="1400" dirty="0">
                <a:solidFill>
                  <a:srgbClr val="F6F7F9"/>
                </a:solidFill>
                <a:latin typeface="JetBrains Mono" pitchFamily="49" charset="0"/>
                <a:ea typeface="JetBrains Mono" pitchFamily="49" charset="-122"/>
                <a:cs typeface="JetBrains Mono" pitchFamily="49" charset="-120"/>
              </a:rPr>
              <a:t>testImplementation</a:t>
            </a:r>
            <a:endParaRPr lang="en-US" sz="1400" dirty="0"/>
          </a:p>
          <a:p>
            <a:pPr marL="0" indent="0" algn="l">
              <a:lnSpc>
                <a:spcPts val="2100"/>
              </a:lnSpc>
              <a:buNone/>
            </a:pPr>
            <a:r>
              <a:rPr lang="en-US" sz="1400" dirty="0">
                <a:solidFill>
                  <a:srgbClr val="F6F7F9"/>
                </a:solidFill>
                <a:latin typeface="JetBrains Mono" pitchFamily="49" charset="0"/>
                <a:ea typeface="JetBrains Mono" pitchFamily="49" charset="-122"/>
                <a:cs typeface="JetBrains Mono" pitchFamily="49" charset="-120"/>
              </a:rPr>
              <a:t>    'org.junit.jupiter:junit-jupiter:5.14.4'</a:t>
            </a:r>
            <a:endParaRPr lang="en-US" sz="1400" dirty="0"/>
          </a:p>
        </p:txBody>
      </p:sp>
      <p:sp>
        <p:nvSpPr>
          <p:cNvPr id="8" name="Text 6"/>
          <p:cNvSpPr/>
          <p:nvPr/>
        </p:nvSpPr>
        <p:spPr>
          <a:xfrm>
            <a:off x="812800" y="4269742"/>
            <a:ext cx="5337048" cy="5943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44506A"/>
                </a:solidFill>
                <a:latin typeface="DM Sans" pitchFamily="34" charset="0"/>
                <a:ea typeface="DM Sans" pitchFamily="34" charset="-122"/>
                <a:cs typeface="DM Sans" pitchFamily="34" charset="-120"/>
              </a:rPr>
              <a:t>Maven:</a:t>
            </a:r>
            <a:r>
              <a:rPr lang="en-US" sz="1600" dirty="0">
                <a:solidFill>
                  <a:srgbClr val="44506A"/>
                </a:solidFill>
                <a:latin typeface="DM Sans" pitchFamily="34" charset="0"/>
                <a:ea typeface="DM Sans" pitchFamily="34" charset="-122"/>
                <a:cs typeface="DM Sans" pitchFamily="34" charset="-120"/>
              </a:rPr>
              <a:t> proyecto estándar, uniformidad y fácil incorporación.</a:t>
            </a:r>
            <a:endParaRPr lang="en-US" sz="1600" dirty="0"/>
          </a:p>
        </p:txBody>
      </p:sp>
      <p:sp>
        <p:nvSpPr>
          <p:cNvPr id="9" name="Text 7"/>
          <p:cNvSpPr/>
          <p:nvPr/>
        </p:nvSpPr>
        <p:spPr>
          <a:xfrm>
            <a:off x="6197600" y="4269742"/>
            <a:ext cx="5337048" cy="5943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44506A"/>
                </a:solidFill>
                <a:latin typeface="DM Sans" pitchFamily="34" charset="0"/>
                <a:ea typeface="DM Sans" pitchFamily="34" charset="-122"/>
                <a:cs typeface="DM Sans" pitchFamily="34" charset="-120"/>
              </a:rPr>
              <a:t>Gradle:</a:t>
            </a:r>
            <a:r>
              <a:rPr lang="en-US" sz="1600" dirty="0">
                <a:solidFill>
                  <a:srgbClr val="44506A"/>
                </a:solidFill>
                <a:latin typeface="DM Sans" pitchFamily="34" charset="0"/>
                <a:ea typeface="DM Sans" pitchFamily="34" charset="-122"/>
                <a:cs typeface="DM Sans" pitchFamily="34" charset="-120"/>
              </a:rPr>
              <a:t> lógica propia, proyecto grande o rendimiento del build.</a:t>
            </a:r>
            <a:endParaRPr lang="en-US" sz="1600" dirty="0"/>
          </a:p>
        </p:txBody>
      </p:sp>
      <p:sp>
        <p:nvSpPr>
          <p:cNvPr id="10" name="Text 8"/>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580"/>
                </a:solidFill>
                <a:latin typeface="DM Sans" pitchFamily="34" charset="0"/>
                <a:ea typeface="DM Sans" pitchFamily="34" charset="-122"/>
                <a:cs typeface="DM Sans" pitchFamily="34" charset="-120"/>
              </a:rPr>
              <a:t>11 / 14</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F6F7F9"/>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B7A75"/>
                </a:solidFill>
                <a:latin typeface="DM Sans" pitchFamily="34" charset="0"/>
                <a:ea typeface="DM Sans" pitchFamily="34" charset="-122"/>
                <a:cs typeface="DM Sans" pitchFamily="34" charset="-120"/>
              </a:rPr>
              <a:t>BALANCE</a:t>
            </a:r>
            <a:endParaRPr lang="en-US" sz="1200" dirty="0"/>
          </a:p>
        </p:txBody>
      </p:sp>
      <p:sp>
        <p:nvSpPr>
          <p:cNvPr id="3" name="Text 1"/>
          <p:cNvSpPr>
            <a:spLocks noGrp="1"/>
          </p:cNvSpPr>
          <p:nvPr>
            <p:ph type="title"/>
          </p:nvPr>
        </p:nvSpPr>
        <p:spPr>
          <a:xfrm>
            <a:off x="812800" y="1102364"/>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DM Sans" pitchFamily="34" charset="0"/>
                <a:ea typeface="DM Sans" pitchFamily="34" charset="-122"/>
                <a:cs typeface="DM Sans" pitchFamily="34" charset="-120"/>
              </a:rPr>
              <a:t>Ventajas y limitaciones</a:t>
            </a:r>
            <a:endParaRPr lang="en-US" sz="3600" dirty="0"/>
          </a:p>
        </p:txBody>
      </p:sp>
      <p:sp>
        <p:nvSpPr>
          <p:cNvPr id="4" name="Shape 2"/>
          <p:cNvSpPr/>
          <p:nvPr/>
        </p:nvSpPr>
        <p:spPr>
          <a:xfrm>
            <a:off x="815975" y="1913254"/>
            <a:ext cx="5175250" cy="2523490"/>
          </a:xfrm>
          <a:prstGeom prst="roundRect">
            <a:avLst>
              <a:gd name="adj" fmla="val 3900"/>
            </a:avLst>
          </a:prstGeom>
          <a:solidFill>
            <a:srgbClr val="FCFCFD"/>
          </a:solidFill>
          <a:ln w="6350">
            <a:solidFill>
              <a:srgbClr val="DDE3EC"/>
            </a:solidFill>
            <a:prstDash val="solid"/>
          </a:ln>
        </p:spPr>
        <p:txBody>
          <a:bodyPr/>
          <a:lstStyle/>
          <a:p>
            <a:endParaRPr lang="es-AR"/>
          </a:p>
        </p:txBody>
      </p:sp>
      <p:sp>
        <p:nvSpPr>
          <p:cNvPr id="5" name="Text 3"/>
          <p:cNvSpPr/>
          <p:nvPr/>
        </p:nvSpPr>
        <p:spPr>
          <a:xfrm>
            <a:off x="1071880" y="2143764"/>
            <a:ext cx="4803343"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0B7A75"/>
                </a:solidFill>
                <a:latin typeface="DM Sans" pitchFamily="34" charset="0"/>
                <a:ea typeface="DM Sans" pitchFamily="34" charset="-122"/>
                <a:cs typeface="DM Sans" pitchFamily="34" charset="-120"/>
              </a:rPr>
              <a:t>Ventajas</a:t>
            </a:r>
            <a:endParaRPr lang="en-US" sz="2200" dirty="0"/>
          </a:p>
        </p:txBody>
      </p:sp>
      <p:sp>
        <p:nvSpPr>
          <p:cNvPr id="6" name="Text 4"/>
          <p:cNvSpPr/>
          <p:nvPr/>
        </p:nvSpPr>
        <p:spPr>
          <a:xfrm>
            <a:off x="1135888" y="2580642"/>
            <a:ext cx="4731715" cy="1651000"/>
          </a:xfrm>
          <a:prstGeom prst="rect">
            <a:avLst/>
          </a:prstGeom>
          <a:noFill/>
          <a:ln/>
        </p:spPr>
        <p:txBody>
          <a:bodyPr wrap="square" lIns="0" tIns="0" rIns="0" bIns="0" rtlCol="0" anchor="t">
            <a:normAutofit/>
          </a:bodyPr>
          <a:lstStyle/>
          <a:p>
            <a:pPr marL="189992" indent="-189992" algn="l">
              <a:lnSpc>
                <a:spcPts val="2560"/>
              </a:lnSpc>
              <a:buSzPct val="100000"/>
              <a:buChar char="•"/>
            </a:pPr>
            <a:r>
              <a:rPr lang="en-US" sz="1600" dirty="0">
                <a:solidFill>
                  <a:srgbClr val="14213D"/>
                </a:solidFill>
                <a:latin typeface="DM Sans" pitchFamily="34" charset="0"/>
                <a:ea typeface="DM Sans" pitchFamily="34" charset="-122"/>
                <a:cs typeface="DM Sans" pitchFamily="34" charset="-120"/>
              </a:rPr>
              <a:t>Rendimiento</a:t>
            </a:r>
            <a:endParaRPr lang="en-US" sz="1600" dirty="0"/>
          </a:p>
          <a:p>
            <a:pPr marL="189992" indent="-189992" algn="l">
              <a:lnSpc>
                <a:spcPts val="2560"/>
              </a:lnSpc>
              <a:buSzPct val="100000"/>
              <a:buChar char="•"/>
            </a:pPr>
            <a:r>
              <a:rPr lang="en-US" sz="1600" dirty="0">
                <a:solidFill>
                  <a:srgbClr val="14213D"/>
                </a:solidFill>
                <a:latin typeface="DM Sans" pitchFamily="34" charset="0"/>
                <a:ea typeface="DM Sans" pitchFamily="34" charset="-122"/>
                <a:cs typeface="DM Sans" pitchFamily="34" charset="-120"/>
              </a:rPr>
              <a:t>Flexibilidad</a:t>
            </a:r>
            <a:endParaRPr lang="en-US" sz="1600" dirty="0"/>
          </a:p>
          <a:p>
            <a:pPr marL="189992" indent="-189992" algn="l">
              <a:lnSpc>
                <a:spcPts val="2560"/>
              </a:lnSpc>
              <a:buSzPct val="100000"/>
              <a:buChar char="•"/>
            </a:pPr>
            <a:r>
              <a:rPr lang="en-US" sz="1600" dirty="0">
                <a:solidFill>
                  <a:srgbClr val="14213D"/>
                </a:solidFill>
                <a:latin typeface="DM Sans" pitchFamily="34" charset="0"/>
                <a:ea typeface="DM Sans" pitchFamily="34" charset="-122"/>
                <a:cs typeface="DM Sans" pitchFamily="34" charset="-120"/>
              </a:rPr>
              <a:t>Reproducibilidad</a:t>
            </a:r>
            <a:endParaRPr lang="en-US" sz="1600" dirty="0"/>
          </a:p>
          <a:p>
            <a:pPr marL="189992" indent="-189992" algn="l">
              <a:lnSpc>
                <a:spcPts val="2560"/>
              </a:lnSpc>
              <a:buSzPct val="100000"/>
              <a:buChar char="•"/>
            </a:pPr>
            <a:r>
              <a:rPr lang="en-US" sz="1600" dirty="0">
                <a:solidFill>
                  <a:srgbClr val="14213D"/>
                </a:solidFill>
                <a:latin typeface="DM Sans" pitchFamily="34" charset="0"/>
                <a:ea typeface="DM Sans" pitchFamily="34" charset="-122"/>
                <a:cs typeface="DM Sans" pitchFamily="34" charset="-120"/>
              </a:rPr>
              <a:t>Dependencias expresivas</a:t>
            </a:r>
            <a:endParaRPr lang="en-US" sz="1600" dirty="0"/>
          </a:p>
          <a:p>
            <a:pPr marL="189992" indent="-189992" algn="l">
              <a:lnSpc>
                <a:spcPts val="2560"/>
              </a:lnSpc>
              <a:buSzPct val="100000"/>
              <a:buChar char="•"/>
            </a:pPr>
            <a:r>
              <a:rPr lang="en-US" sz="1600" dirty="0">
                <a:solidFill>
                  <a:srgbClr val="14213D"/>
                </a:solidFill>
                <a:latin typeface="DM Sans" pitchFamily="34" charset="0"/>
                <a:ea typeface="DM Sans" pitchFamily="34" charset="-122"/>
                <a:cs typeface="DM Sans" pitchFamily="34" charset="-120"/>
              </a:rPr>
              <a:t>Ecosistema</a:t>
            </a:r>
            <a:endParaRPr lang="en-US" sz="1600" dirty="0"/>
          </a:p>
        </p:txBody>
      </p:sp>
      <p:sp>
        <p:nvSpPr>
          <p:cNvPr id="7" name="Shape 5"/>
          <p:cNvSpPr/>
          <p:nvPr/>
        </p:nvSpPr>
        <p:spPr>
          <a:xfrm>
            <a:off x="6200775" y="1913254"/>
            <a:ext cx="5175250" cy="2523490"/>
          </a:xfrm>
          <a:prstGeom prst="roundRect">
            <a:avLst>
              <a:gd name="adj" fmla="val 3900"/>
            </a:avLst>
          </a:prstGeom>
          <a:solidFill>
            <a:srgbClr val="FCFCFD"/>
          </a:solidFill>
          <a:ln w="6350">
            <a:solidFill>
              <a:srgbClr val="DDE3EC"/>
            </a:solidFill>
            <a:prstDash val="solid"/>
          </a:ln>
        </p:spPr>
        <p:txBody>
          <a:bodyPr/>
          <a:lstStyle/>
          <a:p>
            <a:endParaRPr lang="es-AR"/>
          </a:p>
        </p:txBody>
      </p:sp>
      <p:sp>
        <p:nvSpPr>
          <p:cNvPr id="8" name="Text 6"/>
          <p:cNvSpPr/>
          <p:nvPr/>
        </p:nvSpPr>
        <p:spPr>
          <a:xfrm>
            <a:off x="6456680" y="2143764"/>
            <a:ext cx="4803343"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A84A0A"/>
                </a:solidFill>
                <a:latin typeface="DM Sans" pitchFamily="34" charset="0"/>
                <a:ea typeface="DM Sans" pitchFamily="34" charset="-122"/>
                <a:cs typeface="DM Sans" pitchFamily="34" charset="-120"/>
              </a:rPr>
              <a:t>Limitaciones</a:t>
            </a:r>
            <a:endParaRPr lang="en-US" sz="2200" dirty="0"/>
          </a:p>
        </p:txBody>
      </p:sp>
      <p:sp>
        <p:nvSpPr>
          <p:cNvPr id="9" name="Text 7"/>
          <p:cNvSpPr/>
          <p:nvPr/>
        </p:nvSpPr>
        <p:spPr>
          <a:xfrm>
            <a:off x="6520688" y="2580642"/>
            <a:ext cx="4731715" cy="1651000"/>
          </a:xfrm>
          <a:prstGeom prst="rect">
            <a:avLst/>
          </a:prstGeom>
          <a:noFill/>
          <a:ln/>
        </p:spPr>
        <p:txBody>
          <a:bodyPr wrap="square" lIns="0" tIns="0" rIns="0" bIns="0" rtlCol="0" anchor="t">
            <a:normAutofit/>
          </a:bodyPr>
          <a:lstStyle/>
          <a:p>
            <a:pPr marL="189992" indent="-189992" algn="l">
              <a:lnSpc>
                <a:spcPts val="2560"/>
              </a:lnSpc>
              <a:buSzPct val="100000"/>
              <a:buChar char="•"/>
            </a:pPr>
            <a:r>
              <a:rPr lang="en-US" sz="1600" dirty="0">
                <a:solidFill>
                  <a:srgbClr val="14213D"/>
                </a:solidFill>
                <a:latin typeface="DM Sans" pitchFamily="34" charset="0"/>
                <a:ea typeface="DM Sans" pitchFamily="34" charset="-122"/>
                <a:cs typeface="DM Sans" pitchFamily="34" charset="-120"/>
              </a:rPr>
              <a:t>Curva de aprendizaje</a:t>
            </a:r>
            <a:endParaRPr lang="en-US" sz="1600" dirty="0"/>
          </a:p>
          <a:p>
            <a:pPr marL="189992" indent="-189992" algn="l">
              <a:lnSpc>
                <a:spcPts val="2560"/>
              </a:lnSpc>
              <a:buSzPct val="100000"/>
              <a:buChar char="•"/>
            </a:pPr>
            <a:r>
              <a:rPr lang="en-US" sz="1600" dirty="0">
                <a:solidFill>
                  <a:srgbClr val="14213D"/>
                </a:solidFill>
                <a:latin typeface="DM Sans" pitchFamily="34" charset="0"/>
                <a:ea typeface="DM Sans" pitchFamily="34" charset="-122"/>
                <a:cs typeface="DM Sans" pitchFamily="34" charset="-120"/>
              </a:rPr>
              <a:t>Builds difíciles de mantener</a:t>
            </a:r>
            <a:endParaRPr lang="en-US" sz="1600" dirty="0"/>
          </a:p>
          <a:p>
            <a:pPr marL="189992" indent="-189992" algn="l">
              <a:lnSpc>
                <a:spcPts val="2560"/>
              </a:lnSpc>
              <a:buSzPct val="100000"/>
              <a:buChar char="•"/>
            </a:pPr>
            <a:r>
              <a:rPr lang="en-US" sz="1600" dirty="0">
                <a:solidFill>
                  <a:srgbClr val="14213D"/>
                </a:solidFill>
                <a:latin typeface="DM Sans" pitchFamily="34" charset="0"/>
                <a:ea typeface="DM Sans" pitchFamily="34" charset="-122"/>
                <a:cs typeface="DM Sans" pitchFamily="34" charset="-120"/>
              </a:rPr>
              <a:t>Excesivo para proyectos chicos</a:t>
            </a:r>
            <a:endParaRPr lang="en-US" sz="1600" dirty="0"/>
          </a:p>
          <a:p>
            <a:pPr marL="189992" indent="-189992" algn="l">
              <a:lnSpc>
                <a:spcPts val="2560"/>
              </a:lnSpc>
              <a:buSzPct val="100000"/>
              <a:buChar char="•"/>
            </a:pPr>
            <a:r>
              <a:rPr lang="en-US" sz="1600" dirty="0">
                <a:solidFill>
                  <a:srgbClr val="14213D"/>
                </a:solidFill>
                <a:latin typeface="DM Sans" pitchFamily="34" charset="0"/>
                <a:ea typeface="DM Sans" pitchFamily="34" charset="-122"/>
                <a:cs typeface="DM Sans" pitchFamily="34" charset="-120"/>
              </a:rPr>
              <a:t>Costo de las versiones mayores</a:t>
            </a:r>
            <a:endParaRPr lang="en-US" sz="1600" dirty="0"/>
          </a:p>
          <a:p>
            <a:pPr marL="189992" indent="-189992" algn="l">
              <a:lnSpc>
                <a:spcPts val="2560"/>
              </a:lnSpc>
              <a:buSzPct val="100000"/>
              <a:buChar char="•"/>
            </a:pPr>
            <a:r>
              <a:rPr lang="en-US" sz="1600" dirty="0">
                <a:solidFill>
                  <a:srgbClr val="14213D"/>
                </a:solidFill>
                <a:latin typeface="DM Sans" pitchFamily="34" charset="0"/>
                <a:ea typeface="DM Sans" pitchFamily="34" charset="-122"/>
                <a:cs typeface="DM Sans" pitchFamily="34" charset="-120"/>
              </a:rPr>
              <a:t>Menos chequeo estático en Groovy</a:t>
            </a:r>
            <a:endParaRPr lang="en-US" sz="1600" dirty="0"/>
          </a:p>
        </p:txBody>
      </p:sp>
      <p:sp>
        <p:nvSpPr>
          <p:cNvPr id="10" name="Text 8"/>
          <p:cNvSpPr/>
          <p:nvPr/>
        </p:nvSpPr>
        <p:spPr>
          <a:xfrm>
            <a:off x="812800" y="4744721"/>
            <a:ext cx="10883392" cy="30988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213D"/>
                </a:solidFill>
                <a:latin typeface="DM Sans" pitchFamily="34" charset="0"/>
                <a:ea typeface="DM Sans" pitchFamily="34" charset="-122"/>
                <a:cs typeface="DM Sans" pitchFamily="34" charset="-120"/>
              </a:rPr>
              <a:t>Mismo origen para ambas: el build es código.</a:t>
            </a:r>
            <a:endParaRPr lang="en-US" sz="1600" dirty="0"/>
          </a:p>
        </p:txBody>
      </p:sp>
      <p:sp>
        <p:nvSpPr>
          <p:cNvPr id="11" name="Text 9"/>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580"/>
                </a:solidFill>
                <a:latin typeface="DM Sans" pitchFamily="34" charset="0"/>
                <a:ea typeface="DM Sans" pitchFamily="34" charset="-122"/>
                <a:cs typeface="DM Sans" pitchFamily="34" charset="-120"/>
              </a:rPr>
              <a:t>12 / 14</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0B7A75"/>
        </a:solidFill>
        <a:effectLst/>
      </p:bgPr>
    </p:bg>
    <p:spTree>
      <p:nvGrpSpPr>
        <p:cNvPr id="1" name=""/>
        <p:cNvGrpSpPr/>
        <p:nvPr/>
      </p:nvGrpSpPr>
      <p:grpSpPr>
        <a:xfrm>
          <a:off x="0" y="0"/>
          <a:ext cx="0" cy="0"/>
          <a:chOff x="0" y="0"/>
          <a:chExt cx="0" cy="0"/>
        </a:xfrm>
      </p:grpSpPr>
      <p:sp>
        <p:nvSpPr>
          <p:cNvPr id="2" name="Text 0"/>
          <p:cNvSpPr/>
          <p:nvPr/>
        </p:nvSpPr>
        <p:spPr>
          <a:xfrm>
            <a:off x="812800" y="23241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D8F3EF"/>
                </a:solidFill>
                <a:latin typeface="DM Sans" pitchFamily="34" charset="0"/>
                <a:ea typeface="DM Sans" pitchFamily="34" charset="-122"/>
                <a:cs typeface="DM Sans" pitchFamily="34" charset="-120"/>
              </a:rPr>
              <a:t>PASAMOS A ECLIPSE</a:t>
            </a:r>
            <a:endParaRPr lang="en-US" sz="1400" dirty="0"/>
          </a:p>
        </p:txBody>
      </p:sp>
      <p:sp>
        <p:nvSpPr>
          <p:cNvPr id="3" name="Text 1"/>
          <p:cNvSpPr>
            <a:spLocks noGrp="1"/>
          </p:cNvSpPr>
          <p:nvPr>
            <p:ph type="title"/>
          </p:nvPr>
        </p:nvSpPr>
        <p:spPr>
          <a:xfrm>
            <a:off x="812800" y="2776221"/>
            <a:ext cx="10883392" cy="985520"/>
          </a:xfrm>
          <a:prstGeom prst="rect">
            <a:avLst/>
          </a:prstGeom>
          <a:noFill/>
          <a:ln/>
        </p:spPr>
        <p:txBody>
          <a:bodyPr wrap="square" lIns="0" tIns="0" rIns="0" bIns="0" rtlCol="0" anchor="t">
            <a:normAutofit/>
          </a:bodyPr>
          <a:lstStyle/>
          <a:p>
            <a:pPr marL="0" indent="0" algn="l">
              <a:lnSpc>
                <a:spcPts val="7560"/>
              </a:lnSpc>
              <a:buNone/>
            </a:pPr>
            <a:r>
              <a:rPr lang="en-US" sz="7200" b="1" i="0" dirty="0">
                <a:solidFill>
                  <a:srgbClr val="F6F7F9"/>
                </a:solidFill>
                <a:latin typeface="DM Sans" pitchFamily="34" charset="0"/>
                <a:ea typeface="DM Sans" pitchFamily="34" charset="-122"/>
                <a:cs typeface="DM Sans" pitchFamily="34" charset="-120"/>
              </a:rPr>
              <a:t>Demo en vivo</a:t>
            </a:r>
            <a:endParaRPr lang="en-US" sz="7200" dirty="0"/>
          </a:p>
        </p:txBody>
      </p:sp>
      <p:sp>
        <p:nvSpPr>
          <p:cNvPr id="4" name="Text 2"/>
          <p:cNvSpPr/>
          <p:nvPr/>
        </p:nvSpPr>
        <p:spPr>
          <a:xfrm>
            <a:off x="812800" y="3939542"/>
            <a:ext cx="10883392" cy="416560"/>
          </a:xfrm>
          <a:prstGeom prst="rect">
            <a:avLst/>
          </a:prstGeom>
          <a:noFill/>
          <a:ln/>
        </p:spPr>
        <p:txBody>
          <a:bodyPr wrap="square" lIns="0" tIns="0" rIns="0" bIns="0" rtlCol="0" anchor="t">
            <a:normAutofit/>
          </a:bodyPr>
          <a:lstStyle/>
          <a:p>
            <a:pPr marL="0" indent="0" algn="l">
              <a:lnSpc>
                <a:spcPts val="3080"/>
              </a:lnSpc>
              <a:buNone/>
            </a:pPr>
            <a:r>
              <a:rPr lang="en-US" sz="2200" dirty="0">
                <a:solidFill>
                  <a:srgbClr val="F6F7F9"/>
                </a:solidFill>
                <a:latin typeface="DM Sans" pitchFamily="34" charset="0"/>
                <a:ea typeface="DM Sans" pitchFamily="34" charset="-122"/>
                <a:cs typeface="DM Sans" pitchFamily="34" charset="-120"/>
              </a:rPr>
              <a:t>Eclipse · Buildship · Gradle 9.8.1</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6F7F9"/>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B7A75"/>
                </a:solidFill>
                <a:latin typeface="DM Sans" pitchFamily="34" charset="0"/>
                <a:ea typeface="DM Sans" pitchFamily="34" charset="-122"/>
                <a:cs typeface="DM Sans" pitchFamily="34" charset="-120"/>
              </a:rPr>
              <a:t>DEMO EN VIVO</a:t>
            </a:r>
            <a:endParaRPr lang="en-US" sz="1200" dirty="0"/>
          </a:p>
        </p:txBody>
      </p:sp>
      <p:sp>
        <p:nvSpPr>
          <p:cNvPr id="3" name="Text 1"/>
          <p:cNvSpPr>
            <a:spLocks noGrp="1"/>
          </p:cNvSpPr>
          <p:nvPr>
            <p:ph type="title"/>
          </p:nvPr>
        </p:nvSpPr>
        <p:spPr>
          <a:xfrm>
            <a:off x="812800" y="1102364"/>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DM Sans" pitchFamily="34" charset="0"/>
                <a:ea typeface="DM Sans" pitchFamily="34" charset="-122"/>
                <a:cs typeface="DM Sans" pitchFamily="34" charset="-120"/>
              </a:rPr>
              <a:t>Qué vamos a ver</a:t>
            </a:r>
            <a:endParaRPr lang="en-US" sz="3600" dirty="0"/>
          </a:p>
        </p:txBody>
      </p:sp>
      <p:sp>
        <p:nvSpPr>
          <p:cNvPr id="4" name="Shape 2"/>
          <p:cNvSpPr/>
          <p:nvPr/>
        </p:nvSpPr>
        <p:spPr>
          <a:xfrm>
            <a:off x="815975" y="1964054"/>
            <a:ext cx="5175250" cy="816610"/>
          </a:xfrm>
          <a:prstGeom prst="roundRect">
            <a:avLst>
              <a:gd name="adj" fmla="val 12053"/>
            </a:avLst>
          </a:prstGeom>
          <a:solidFill>
            <a:srgbClr val="FCFCFD"/>
          </a:solidFill>
          <a:ln w="6350">
            <a:solidFill>
              <a:srgbClr val="DDE3EC"/>
            </a:solidFill>
            <a:prstDash val="solid"/>
          </a:ln>
        </p:spPr>
        <p:txBody>
          <a:bodyPr/>
          <a:lstStyle/>
          <a:p>
            <a:endParaRPr lang="es-AR"/>
          </a:p>
        </p:txBody>
      </p:sp>
      <p:sp>
        <p:nvSpPr>
          <p:cNvPr id="5" name="Text 3"/>
          <p:cNvSpPr/>
          <p:nvPr/>
        </p:nvSpPr>
        <p:spPr>
          <a:xfrm>
            <a:off x="1021080" y="2169164"/>
            <a:ext cx="406400" cy="406400"/>
          </a:xfrm>
          <a:prstGeom prst="roundRect">
            <a:avLst>
              <a:gd name="adj" fmla="val 50000"/>
            </a:avLst>
          </a:prstGeom>
          <a:solidFill>
            <a:srgbClr val="0B7A75"/>
          </a:solidFill>
          <a:ln/>
        </p:spPr>
        <p:txBody>
          <a:bodyPr wrap="square" lIns="0" tIns="0" rIns="0" bIns="0" rtlCol="0" anchor="ctr">
            <a:normAutofit/>
          </a:bodyPr>
          <a:lstStyle/>
          <a:p>
            <a:pPr marL="0" indent="0" algn="ctr">
              <a:lnSpc>
                <a:spcPts val="2240"/>
              </a:lnSpc>
              <a:buNone/>
            </a:pPr>
            <a:r>
              <a:rPr lang="en-US" sz="1600" b="1" dirty="0">
                <a:solidFill>
                  <a:srgbClr val="F6F7F9"/>
                </a:solidFill>
                <a:latin typeface="DM Sans" pitchFamily="34" charset="0"/>
                <a:ea typeface="DM Sans" pitchFamily="34" charset="-122"/>
                <a:cs typeface="DM Sans" pitchFamily="34" charset="-120"/>
              </a:rPr>
              <a:t>1</a:t>
            </a:r>
            <a:endParaRPr lang="en-US" sz="1600" dirty="0"/>
          </a:p>
        </p:txBody>
      </p:sp>
      <p:sp>
        <p:nvSpPr>
          <p:cNvPr id="6" name="Text 4"/>
          <p:cNvSpPr/>
          <p:nvPr/>
        </p:nvSpPr>
        <p:spPr>
          <a:xfrm>
            <a:off x="1579880" y="2194564"/>
            <a:ext cx="1954720" cy="3810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14213D"/>
                </a:solidFill>
                <a:latin typeface="DM Sans" pitchFamily="34" charset="0"/>
                <a:ea typeface="DM Sans" pitchFamily="34" charset="-122"/>
                <a:cs typeface="DM Sans" pitchFamily="34" charset="-120"/>
              </a:rPr>
              <a:t>El build script</a:t>
            </a:r>
            <a:endParaRPr lang="en-US" sz="2000" dirty="0"/>
          </a:p>
        </p:txBody>
      </p:sp>
      <p:sp>
        <p:nvSpPr>
          <p:cNvPr id="7" name="Shape 5"/>
          <p:cNvSpPr/>
          <p:nvPr/>
        </p:nvSpPr>
        <p:spPr>
          <a:xfrm>
            <a:off x="6200775" y="1964054"/>
            <a:ext cx="5175250" cy="816610"/>
          </a:xfrm>
          <a:prstGeom prst="roundRect">
            <a:avLst>
              <a:gd name="adj" fmla="val 12053"/>
            </a:avLst>
          </a:prstGeom>
          <a:solidFill>
            <a:srgbClr val="FCFCFD"/>
          </a:solidFill>
          <a:ln w="6350">
            <a:solidFill>
              <a:srgbClr val="DDE3EC"/>
            </a:solidFill>
            <a:prstDash val="solid"/>
          </a:ln>
        </p:spPr>
        <p:txBody>
          <a:bodyPr/>
          <a:lstStyle/>
          <a:p>
            <a:endParaRPr lang="es-AR"/>
          </a:p>
        </p:txBody>
      </p:sp>
      <p:sp>
        <p:nvSpPr>
          <p:cNvPr id="8" name="Text 6"/>
          <p:cNvSpPr/>
          <p:nvPr/>
        </p:nvSpPr>
        <p:spPr>
          <a:xfrm>
            <a:off x="6405880" y="2169164"/>
            <a:ext cx="406400" cy="406400"/>
          </a:xfrm>
          <a:prstGeom prst="roundRect">
            <a:avLst>
              <a:gd name="adj" fmla="val 50000"/>
            </a:avLst>
          </a:prstGeom>
          <a:solidFill>
            <a:srgbClr val="0B7A75"/>
          </a:solidFill>
          <a:ln/>
        </p:spPr>
        <p:txBody>
          <a:bodyPr wrap="square" lIns="0" tIns="0" rIns="0" bIns="0" rtlCol="0" anchor="ctr">
            <a:normAutofit/>
          </a:bodyPr>
          <a:lstStyle/>
          <a:p>
            <a:pPr marL="0" indent="0" algn="ctr">
              <a:lnSpc>
                <a:spcPts val="2240"/>
              </a:lnSpc>
              <a:buNone/>
            </a:pPr>
            <a:r>
              <a:rPr lang="en-US" sz="1600" b="1" dirty="0">
                <a:solidFill>
                  <a:srgbClr val="F6F7F9"/>
                </a:solidFill>
                <a:latin typeface="DM Sans" pitchFamily="34" charset="0"/>
                <a:ea typeface="DM Sans" pitchFamily="34" charset="-122"/>
                <a:cs typeface="DM Sans" pitchFamily="34" charset="-120"/>
              </a:rPr>
              <a:t>2</a:t>
            </a:r>
            <a:endParaRPr lang="en-US" sz="1600" dirty="0"/>
          </a:p>
        </p:txBody>
      </p:sp>
      <p:sp>
        <p:nvSpPr>
          <p:cNvPr id="9" name="Text 7"/>
          <p:cNvSpPr/>
          <p:nvPr/>
        </p:nvSpPr>
        <p:spPr>
          <a:xfrm>
            <a:off x="6964680" y="2194564"/>
            <a:ext cx="3345466" cy="3810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14213D"/>
                </a:solidFill>
                <a:latin typeface="DM Sans" pitchFamily="34" charset="0"/>
                <a:ea typeface="DM Sans" pitchFamily="34" charset="-122"/>
                <a:cs typeface="DM Sans" pitchFamily="34" charset="-120"/>
              </a:rPr>
              <a:t>Una tarea, todo el grafo</a:t>
            </a:r>
            <a:endParaRPr lang="en-US" sz="2000" dirty="0"/>
          </a:p>
        </p:txBody>
      </p:sp>
      <p:sp>
        <p:nvSpPr>
          <p:cNvPr id="10" name="Shape 8"/>
          <p:cNvSpPr/>
          <p:nvPr/>
        </p:nvSpPr>
        <p:spPr>
          <a:xfrm>
            <a:off x="815975" y="2990217"/>
            <a:ext cx="5175250" cy="816610"/>
          </a:xfrm>
          <a:prstGeom prst="roundRect">
            <a:avLst>
              <a:gd name="adj" fmla="val 12053"/>
            </a:avLst>
          </a:prstGeom>
          <a:solidFill>
            <a:srgbClr val="FCFCFD"/>
          </a:solidFill>
          <a:ln w="6350">
            <a:solidFill>
              <a:srgbClr val="DDE3EC"/>
            </a:solidFill>
            <a:prstDash val="solid"/>
          </a:ln>
        </p:spPr>
        <p:txBody>
          <a:bodyPr/>
          <a:lstStyle/>
          <a:p>
            <a:endParaRPr lang="es-AR"/>
          </a:p>
        </p:txBody>
      </p:sp>
      <p:sp>
        <p:nvSpPr>
          <p:cNvPr id="11" name="Text 9"/>
          <p:cNvSpPr/>
          <p:nvPr/>
        </p:nvSpPr>
        <p:spPr>
          <a:xfrm>
            <a:off x="1021080" y="3195321"/>
            <a:ext cx="406400" cy="406400"/>
          </a:xfrm>
          <a:prstGeom prst="roundRect">
            <a:avLst>
              <a:gd name="adj" fmla="val 50000"/>
            </a:avLst>
          </a:prstGeom>
          <a:solidFill>
            <a:srgbClr val="0B7A75"/>
          </a:solidFill>
          <a:ln/>
        </p:spPr>
        <p:txBody>
          <a:bodyPr wrap="square" lIns="0" tIns="0" rIns="0" bIns="0" rtlCol="0" anchor="ctr">
            <a:normAutofit/>
          </a:bodyPr>
          <a:lstStyle/>
          <a:p>
            <a:pPr marL="0" indent="0" algn="ctr">
              <a:lnSpc>
                <a:spcPts val="2240"/>
              </a:lnSpc>
              <a:buNone/>
            </a:pPr>
            <a:r>
              <a:rPr lang="en-US" sz="1600" b="1" dirty="0">
                <a:solidFill>
                  <a:srgbClr val="F6F7F9"/>
                </a:solidFill>
                <a:latin typeface="DM Sans" pitchFamily="34" charset="0"/>
                <a:ea typeface="DM Sans" pitchFamily="34" charset="-122"/>
                <a:cs typeface="DM Sans" pitchFamily="34" charset="-120"/>
              </a:rPr>
              <a:t>3</a:t>
            </a:r>
            <a:endParaRPr lang="en-US" sz="1600" dirty="0"/>
          </a:p>
        </p:txBody>
      </p:sp>
      <p:sp>
        <p:nvSpPr>
          <p:cNvPr id="12" name="Text 10"/>
          <p:cNvSpPr/>
          <p:nvPr/>
        </p:nvSpPr>
        <p:spPr>
          <a:xfrm>
            <a:off x="1579880" y="3220721"/>
            <a:ext cx="1971008" cy="3810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14213D"/>
                </a:solidFill>
                <a:latin typeface="DM Sans" pitchFamily="34" charset="0"/>
                <a:ea typeface="DM Sans" pitchFamily="34" charset="-122"/>
                <a:cs typeface="DM Sans" pitchFamily="34" charset="-120"/>
              </a:rPr>
              <a:t>Las tres fases</a:t>
            </a:r>
            <a:endParaRPr lang="en-US" sz="2000" dirty="0"/>
          </a:p>
        </p:txBody>
      </p:sp>
      <p:sp>
        <p:nvSpPr>
          <p:cNvPr id="13" name="Shape 11"/>
          <p:cNvSpPr/>
          <p:nvPr/>
        </p:nvSpPr>
        <p:spPr>
          <a:xfrm>
            <a:off x="6200775" y="2990217"/>
            <a:ext cx="5175250" cy="816610"/>
          </a:xfrm>
          <a:prstGeom prst="roundRect">
            <a:avLst>
              <a:gd name="adj" fmla="val 12053"/>
            </a:avLst>
          </a:prstGeom>
          <a:solidFill>
            <a:srgbClr val="FCFCFD"/>
          </a:solidFill>
          <a:ln w="6350">
            <a:solidFill>
              <a:srgbClr val="DDE3EC"/>
            </a:solidFill>
            <a:prstDash val="solid"/>
          </a:ln>
        </p:spPr>
        <p:txBody>
          <a:bodyPr/>
          <a:lstStyle/>
          <a:p>
            <a:endParaRPr lang="es-AR"/>
          </a:p>
        </p:txBody>
      </p:sp>
      <p:sp>
        <p:nvSpPr>
          <p:cNvPr id="14" name="Text 12"/>
          <p:cNvSpPr/>
          <p:nvPr/>
        </p:nvSpPr>
        <p:spPr>
          <a:xfrm>
            <a:off x="6405880" y="3195321"/>
            <a:ext cx="406400" cy="406400"/>
          </a:xfrm>
          <a:prstGeom prst="roundRect">
            <a:avLst>
              <a:gd name="adj" fmla="val 50000"/>
            </a:avLst>
          </a:prstGeom>
          <a:solidFill>
            <a:srgbClr val="0B7A75"/>
          </a:solidFill>
          <a:ln/>
        </p:spPr>
        <p:txBody>
          <a:bodyPr wrap="square" lIns="0" tIns="0" rIns="0" bIns="0" rtlCol="0" anchor="ctr">
            <a:normAutofit/>
          </a:bodyPr>
          <a:lstStyle/>
          <a:p>
            <a:pPr marL="0" indent="0" algn="ctr">
              <a:lnSpc>
                <a:spcPts val="2240"/>
              </a:lnSpc>
              <a:buNone/>
            </a:pPr>
            <a:r>
              <a:rPr lang="en-US" sz="1600" b="1" dirty="0">
                <a:solidFill>
                  <a:srgbClr val="F6F7F9"/>
                </a:solidFill>
                <a:latin typeface="DM Sans" pitchFamily="34" charset="0"/>
                <a:ea typeface="DM Sans" pitchFamily="34" charset="-122"/>
                <a:cs typeface="DM Sans" pitchFamily="34" charset="-120"/>
              </a:rPr>
              <a:t>4</a:t>
            </a:r>
            <a:endParaRPr lang="en-US" sz="1600" dirty="0"/>
          </a:p>
        </p:txBody>
      </p:sp>
      <p:sp>
        <p:nvSpPr>
          <p:cNvPr id="15" name="Text 13"/>
          <p:cNvSpPr/>
          <p:nvPr/>
        </p:nvSpPr>
        <p:spPr>
          <a:xfrm>
            <a:off x="6964680" y="3220721"/>
            <a:ext cx="2505932" cy="3810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14213D"/>
                </a:solidFill>
                <a:latin typeface="DM Sans" pitchFamily="34" charset="0"/>
                <a:ea typeface="DM Sans" pitchFamily="34" charset="-122"/>
                <a:cs typeface="DM Sans" pitchFamily="34" charset="-120"/>
              </a:rPr>
              <a:t>Build incremental</a:t>
            </a:r>
            <a:endParaRPr lang="en-US" sz="2000" dirty="0"/>
          </a:p>
        </p:txBody>
      </p:sp>
      <p:sp>
        <p:nvSpPr>
          <p:cNvPr id="16" name="Shape 14"/>
          <p:cNvSpPr/>
          <p:nvPr/>
        </p:nvSpPr>
        <p:spPr>
          <a:xfrm>
            <a:off x="815975" y="4016375"/>
            <a:ext cx="5175250" cy="816610"/>
          </a:xfrm>
          <a:prstGeom prst="roundRect">
            <a:avLst>
              <a:gd name="adj" fmla="val 12053"/>
            </a:avLst>
          </a:prstGeom>
          <a:solidFill>
            <a:srgbClr val="FCFCFD"/>
          </a:solidFill>
          <a:ln w="6350">
            <a:solidFill>
              <a:srgbClr val="DDE3EC"/>
            </a:solidFill>
            <a:prstDash val="solid"/>
          </a:ln>
        </p:spPr>
        <p:txBody>
          <a:bodyPr/>
          <a:lstStyle/>
          <a:p>
            <a:endParaRPr lang="es-AR"/>
          </a:p>
        </p:txBody>
      </p:sp>
      <p:sp>
        <p:nvSpPr>
          <p:cNvPr id="17" name="Text 15"/>
          <p:cNvSpPr/>
          <p:nvPr/>
        </p:nvSpPr>
        <p:spPr>
          <a:xfrm>
            <a:off x="1021080" y="4221479"/>
            <a:ext cx="406400" cy="406400"/>
          </a:xfrm>
          <a:prstGeom prst="roundRect">
            <a:avLst>
              <a:gd name="adj" fmla="val 50000"/>
            </a:avLst>
          </a:prstGeom>
          <a:solidFill>
            <a:srgbClr val="0B7A75"/>
          </a:solidFill>
          <a:ln/>
        </p:spPr>
        <p:txBody>
          <a:bodyPr wrap="square" lIns="0" tIns="0" rIns="0" bIns="0" rtlCol="0" anchor="ctr">
            <a:normAutofit/>
          </a:bodyPr>
          <a:lstStyle/>
          <a:p>
            <a:pPr marL="0" indent="0" algn="ctr">
              <a:lnSpc>
                <a:spcPts val="2240"/>
              </a:lnSpc>
              <a:buNone/>
            </a:pPr>
            <a:r>
              <a:rPr lang="en-US" sz="1600" b="1" dirty="0">
                <a:solidFill>
                  <a:srgbClr val="F6F7F9"/>
                </a:solidFill>
                <a:latin typeface="DM Sans" pitchFamily="34" charset="0"/>
                <a:ea typeface="DM Sans" pitchFamily="34" charset="-122"/>
                <a:cs typeface="DM Sans" pitchFamily="34" charset="-120"/>
              </a:rPr>
              <a:t>5</a:t>
            </a:r>
            <a:endParaRPr lang="en-US" sz="1600" dirty="0"/>
          </a:p>
        </p:txBody>
      </p:sp>
      <p:sp>
        <p:nvSpPr>
          <p:cNvPr id="18" name="Text 16"/>
          <p:cNvSpPr/>
          <p:nvPr/>
        </p:nvSpPr>
        <p:spPr>
          <a:xfrm>
            <a:off x="1579880" y="4246879"/>
            <a:ext cx="2390870" cy="3810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14213D"/>
                </a:solidFill>
                <a:latin typeface="DM Sans" pitchFamily="34" charset="0"/>
                <a:ea typeface="DM Sans" pitchFamily="34" charset="-122"/>
                <a:cs typeface="DM Sans" pitchFamily="34" charset="-120"/>
              </a:rPr>
              <a:t>Reporte de tests</a:t>
            </a:r>
            <a:endParaRPr lang="en-US" sz="2000" dirty="0"/>
          </a:p>
        </p:txBody>
      </p:sp>
      <p:sp>
        <p:nvSpPr>
          <p:cNvPr id="19" name="Shape 17"/>
          <p:cNvSpPr/>
          <p:nvPr/>
        </p:nvSpPr>
        <p:spPr>
          <a:xfrm>
            <a:off x="6200775" y="4016375"/>
            <a:ext cx="5175250" cy="816610"/>
          </a:xfrm>
          <a:prstGeom prst="roundRect">
            <a:avLst>
              <a:gd name="adj" fmla="val 12053"/>
            </a:avLst>
          </a:prstGeom>
          <a:solidFill>
            <a:srgbClr val="FCFCFD"/>
          </a:solidFill>
          <a:ln w="6350">
            <a:solidFill>
              <a:srgbClr val="DDE3EC"/>
            </a:solidFill>
            <a:prstDash val="solid"/>
          </a:ln>
        </p:spPr>
        <p:txBody>
          <a:bodyPr/>
          <a:lstStyle/>
          <a:p>
            <a:endParaRPr lang="es-AR"/>
          </a:p>
        </p:txBody>
      </p:sp>
      <p:sp>
        <p:nvSpPr>
          <p:cNvPr id="20" name="Text 18"/>
          <p:cNvSpPr/>
          <p:nvPr/>
        </p:nvSpPr>
        <p:spPr>
          <a:xfrm>
            <a:off x="6405880" y="4221479"/>
            <a:ext cx="406400" cy="406400"/>
          </a:xfrm>
          <a:prstGeom prst="roundRect">
            <a:avLst>
              <a:gd name="adj" fmla="val 50000"/>
            </a:avLst>
          </a:prstGeom>
          <a:solidFill>
            <a:srgbClr val="0B7A75"/>
          </a:solidFill>
          <a:ln/>
        </p:spPr>
        <p:txBody>
          <a:bodyPr wrap="square" lIns="0" tIns="0" rIns="0" bIns="0" rtlCol="0" anchor="ctr">
            <a:normAutofit/>
          </a:bodyPr>
          <a:lstStyle/>
          <a:p>
            <a:pPr marL="0" indent="0" algn="ctr">
              <a:lnSpc>
                <a:spcPts val="2240"/>
              </a:lnSpc>
              <a:buNone/>
            </a:pPr>
            <a:r>
              <a:rPr lang="en-US" sz="1600" b="1" dirty="0">
                <a:solidFill>
                  <a:srgbClr val="F6F7F9"/>
                </a:solidFill>
                <a:latin typeface="DM Sans" pitchFamily="34" charset="0"/>
                <a:ea typeface="DM Sans" pitchFamily="34" charset="-122"/>
                <a:cs typeface="DM Sans" pitchFamily="34" charset="-120"/>
              </a:rPr>
              <a:t>6</a:t>
            </a:r>
            <a:endParaRPr lang="en-US" sz="1600" dirty="0"/>
          </a:p>
        </p:txBody>
      </p:sp>
      <p:sp>
        <p:nvSpPr>
          <p:cNvPr id="21" name="Text 19"/>
          <p:cNvSpPr/>
          <p:nvPr/>
        </p:nvSpPr>
        <p:spPr>
          <a:xfrm>
            <a:off x="6964680" y="4246879"/>
            <a:ext cx="2386013" cy="3810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14213D"/>
                </a:solidFill>
                <a:latin typeface="DM Sans" pitchFamily="34" charset="0"/>
                <a:ea typeface="DM Sans" pitchFamily="34" charset="-122"/>
                <a:cs typeface="DM Sans" pitchFamily="34" charset="-120"/>
              </a:rPr>
              <a:t>Una tarea propia</a:t>
            </a:r>
            <a:endParaRPr lang="en-US" sz="2000" dirty="0"/>
          </a:p>
        </p:txBody>
      </p:sp>
      <p:sp>
        <p:nvSpPr>
          <p:cNvPr id="22" name="Text 20"/>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A6580"/>
                </a:solidFill>
                <a:latin typeface="DM Sans" pitchFamily="34" charset="0"/>
                <a:ea typeface="DM Sans" pitchFamily="34" charset="-122"/>
                <a:cs typeface="DM Sans" pitchFamily="34" charset="-120"/>
              </a:rPr>
              <a:t>10 / 14</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7FE0D2"/>
                </a:solidFill>
                <a:latin typeface="DM Sans" pitchFamily="34" charset="0"/>
                <a:ea typeface="DM Sans" pitchFamily="34" charset="-122"/>
                <a:cs typeface="DM Sans" pitchFamily="34" charset="-120"/>
              </a:rPr>
              <a:t>CONCLUSIONES</a:t>
            </a:r>
            <a:endParaRPr lang="en-US" sz="1200" dirty="0"/>
          </a:p>
        </p:txBody>
      </p:sp>
      <p:sp>
        <p:nvSpPr>
          <p:cNvPr id="3" name="Text 1"/>
          <p:cNvSpPr>
            <a:spLocks noGrp="1"/>
          </p:cNvSpPr>
          <p:nvPr>
            <p:ph type="title"/>
          </p:nvPr>
        </p:nvSpPr>
        <p:spPr>
          <a:xfrm>
            <a:off x="812800" y="1102364"/>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6F7F9"/>
                </a:solidFill>
                <a:latin typeface="DM Sans" pitchFamily="34" charset="0"/>
                <a:ea typeface="DM Sans" pitchFamily="34" charset="-122"/>
                <a:cs typeface="DM Sans" pitchFamily="34" charset="-120"/>
              </a:rPr>
              <a:t>Tres ideas para llevarse</a:t>
            </a:r>
            <a:endParaRPr lang="en-US" sz="3600" dirty="0"/>
          </a:p>
        </p:txBody>
      </p:sp>
      <p:sp>
        <p:nvSpPr>
          <p:cNvPr id="4" name="Text 2"/>
          <p:cNvSpPr/>
          <p:nvPr/>
        </p:nvSpPr>
        <p:spPr>
          <a:xfrm>
            <a:off x="812800" y="2011679"/>
            <a:ext cx="558800"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7FE0D2"/>
                </a:solidFill>
                <a:latin typeface="DM Sans" pitchFamily="34" charset="0"/>
                <a:ea typeface="DM Sans" pitchFamily="34" charset="-122"/>
                <a:cs typeface="DM Sans" pitchFamily="34" charset="-120"/>
              </a:rPr>
              <a:t>1</a:t>
            </a:r>
            <a:endParaRPr lang="en-US" sz="3600" dirty="0"/>
          </a:p>
        </p:txBody>
      </p:sp>
      <p:sp>
        <p:nvSpPr>
          <p:cNvPr id="5" name="Text 3"/>
          <p:cNvSpPr/>
          <p:nvPr/>
        </p:nvSpPr>
        <p:spPr>
          <a:xfrm>
            <a:off x="1574800" y="2011679"/>
            <a:ext cx="10098532" cy="38862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F6F7F9"/>
                </a:solidFill>
                <a:latin typeface="DM Sans" pitchFamily="34" charset="0"/>
                <a:ea typeface="DM Sans" pitchFamily="34" charset="-122"/>
                <a:cs typeface="DM Sans" pitchFamily="34" charset="-120"/>
              </a:rPr>
              <a:t>Su aporte central es la reproducibilidad.</a:t>
            </a:r>
            <a:endParaRPr lang="en-US" sz="2200" dirty="0"/>
          </a:p>
        </p:txBody>
      </p:sp>
      <p:sp>
        <p:nvSpPr>
          <p:cNvPr id="6" name="Text 4"/>
          <p:cNvSpPr/>
          <p:nvPr/>
        </p:nvSpPr>
        <p:spPr>
          <a:xfrm>
            <a:off x="812800" y="2773679"/>
            <a:ext cx="558800"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7FE0D2"/>
                </a:solidFill>
                <a:latin typeface="DM Sans" pitchFamily="34" charset="0"/>
                <a:ea typeface="DM Sans" pitchFamily="34" charset="-122"/>
                <a:cs typeface="DM Sans" pitchFamily="34" charset="-120"/>
              </a:rPr>
              <a:t>2</a:t>
            </a:r>
            <a:endParaRPr lang="en-US" sz="3600" dirty="0"/>
          </a:p>
        </p:txBody>
      </p:sp>
      <p:sp>
        <p:nvSpPr>
          <p:cNvPr id="7" name="Text 5"/>
          <p:cNvSpPr/>
          <p:nvPr/>
        </p:nvSpPr>
        <p:spPr>
          <a:xfrm>
            <a:off x="1574800" y="2773679"/>
            <a:ext cx="10098532" cy="38862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F6F7F9"/>
                </a:solidFill>
                <a:latin typeface="DM Sans" pitchFamily="34" charset="0"/>
                <a:ea typeface="DM Sans" pitchFamily="34" charset="-122"/>
                <a:cs typeface="DM Sans" pitchFamily="34" charset="-120"/>
              </a:rPr>
              <a:t>Su diseño es la programación orientada a objetos aplicada al build.</a:t>
            </a:r>
            <a:endParaRPr lang="en-US" sz="2200" dirty="0"/>
          </a:p>
        </p:txBody>
      </p:sp>
      <p:sp>
        <p:nvSpPr>
          <p:cNvPr id="8" name="Text 6"/>
          <p:cNvSpPr/>
          <p:nvPr/>
        </p:nvSpPr>
        <p:spPr>
          <a:xfrm>
            <a:off x="812800" y="3535679"/>
            <a:ext cx="558800"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7FE0D2"/>
                </a:solidFill>
                <a:latin typeface="DM Sans" pitchFamily="34" charset="0"/>
                <a:ea typeface="DM Sans" pitchFamily="34" charset="-122"/>
                <a:cs typeface="DM Sans" pitchFamily="34" charset="-120"/>
              </a:rPr>
              <a:t>3</a:t>
            </a:r>
            <a:endParaRPr lang="en-US" sz="3600" dirty="0"/>
          </a:p>
        </p:txBody>
      </p:sp>
      <p:sp>
        <p:nvSpPr>
          <p:cNvPr id="9" name="Text 7"/>
          <p:cNvSpPr/>
          <p:nvPr/>
        </p:nvSpPr>
        <p:spPr>
          <a:xfrm>
            <a:off x="1574800" y="3535679"/>
            <a:ext cx="10098532" cy="38862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F6F7F9"/>
                </a:solidFill>
                <a:latin typeface="DM Sans" pitchFamily="34" charset="0"/>
                <a:ea typeface="DM Sans" pitchFamily="34" charset="-122"/>
                <a:cs typeface="DM Sans" pitchFamily="34" charset="-120"/>
              </a:rPr>
              <a:t>Ventajas y límites nacen de lo mismo: el build es código.</a:t>
            </a:r>
            <a:endParaRPr lang="en-US" sz="2200" dirty="0"/>
          </a:p>
        </p:txBody>
      </p:sp>
      <p:sp>
        <p:nvSpPr>
          <p:cNvPr id="10" name="Text 8"/>
          <p:cNvSpPr/>
          <p:nvPr/>
        </p:nvSpPr>
        <p:spPr>
          <a:xfrm>
            <a:off x="10058400" y="6238242"/>
            <a:ext cx="1320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9FB0CF"/>
                </a:solidFill>
                <a:latin typeface="DM Sans" pitchFamily="34" charset="0"/>
                <a:ea typeface="DM Sans" pitchFamily="34" charset="-122"/>
                <a:cs typeface="DM Sans" pitchFamily="34" charset="-120"/>
              </a:rPr>
              <a:t>13 / 14</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7F9"/>
        </a:solidFill>
        <a:effectLst/>
      </p:bgPr>
    </p:bg>
    <p:spTree>
      <p:nvGrpSpPr>
        <p:cNvPr id="1" name=""/>
        <p:cNvGrpSpPr/>
        <p:nvPr/>
      </p:nvGrpSpPr>
      <p:grpSpPr>
        <a:xfrm>
          <a:off x="0" y="0"/>
          <a:ext cx="0" cy="0"/>
          <a:chOff x="0" y="0"/>
          <a:chExt cx="0" cy="0"/>
        </a:xfrm>
      </p:grpSpPr>
      <p:sp>
        <p:nvSpPr>
          <p:cNvPr id="2" name="Text 0"/>
          <p:cNvSpPr/>
          <p:nvPr/>
        </p:nvSpPr>
        <p:spPr>
          <a:xfrm>
            <a:off x="812800" y="2250442"/>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0B7A75"/>
                </a:solidFill>
                <a:latin typeface="DM Sans" pitchFamily="34" charset="0"/>
                <a:ea typeface="DM Sans" pitchFamily="34" charset="-122"/>
                <a:cs typeface="DM Sans" pitchFamily="34" charset="-120"/>
              </a:rPr>
              <a:t> GRUPO DELTA</a:t>
            </a:r>
            <a:endParaRPr lang="en-US" sz="1400" dirty="0"/>
          </a:p>
        </p:txBody>
      </p:sp>
      <p:sp>
        <p:nvSpPr>
          <p:cNvPr id="3" name="Text 1"/>
          <p:cNvSpPr>
            <a:spLocks noGrp="1"/>
          </p:cNvSpPr>
          <p:nvPr>
            <p:ph type="title"/>
          </p:nvPr>
        </p:nvSpPr>
        <p:spPr>
          <a:xfrm>
            <a:off x="812800" y="2702564"/>
            <a:ext cx="10883392" cy="985520"/>
          </a:xfrm>
          <a:prstGeom prst="rect">
            <a:avLst/>
          </a:prstGeom>
          <a:noFill/>
          <a:ln/>
        </p:spPr>
        <p:txBody>
          <a:bodyPr wrap="square" lIns="0" tIns="0" rIns="0" bIns="0" rtlCol="0" anchor="t">
            <a:normAutofit/>
          </a:bodyPr>
          <a:lstStyle/>
          <a:p>
            <a:pPr marL="0" indent="0">
              <a:lnSpc>
                <a:spcPts val="7560"/>
              </a:lnSpc>
              <a:buNone/>
            </a:pPr>
            <a:r>
              <a:rPr lang="en-US" sz="7200" dirty="0" err="1"/>
              <a:t>Muchas</a:t>
            </a:r>
            <a:r>
              <a:rPr lang="en-US" sz="7200" dirty="0"/>
              <a:t> gracias</a:t>
            </a:r>
          </a:p>
        </p:txBody>
      </p:sp>
      <p:sp>
        <p:nvSpPr>
          <p:cNvPr id="4" name="Shape 2"/>
          <p:cNvSpPr/>
          <p:nvPr/>
        </p:nvSpPr>
        <p:spPr>
          <a:xfrm>
            <a:off x="812800" y="3865879"/>
            <a:ext cx="1016000" cy="50800"/>
          </a:xfrm>
          <a:prstGeom prst="rect">
            <a:avLst/>
          </a:prstGeom>
          <a:solidFill>
            <a:srgbClr val="0B7A75"/>
          </a:solidFill>
          <a:ln/>
        </p:spPr>
        <p:txBody>
          <a:bodyPr/>
          <a:lstStyle/>
          <a:p>
            <a:endParaRPr lang="es-AR"/>
          </a:p>
        </p:txBody>
      </p:sp>
      <p:sp>
        <p:nvSpPr>
          <p:cNvPr id="5" name="Text 3"/>
          <p:cNvSpPr/>
          <p:nvPr/>
        </p:nvSpPr>
        <p:spPr>
          <a:xfrm>
            <a:off x="812800" y="4119879"/>
            <a:ext cx="1088339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4506A"/>
                </a:solidFill>
                <a:latin typeface="DM Sans" pitchFamily="34" charset="0"/>
                <a:ea typeface="DM Sans" pitchFamily="34" charset="-122"/>
                <a:cs typeface="DM Sans" pitchFamily="34" charset="-120"/>
              </a:rPr>
              <a:t>Fuente principal: Gradle User Manual · docs.gradle.org</a:t>
            </a:r>
            <a:endParaRPr lang="en-US" sz="1600" dirty="0"/>
          </a:p>
        </p:txBody>
      </p:sp>
    </p:spTree>
  </p:cSld>
  <p:clrMapOvr>
    <a:masterClrMapping/>
  </p:clrMapOvr>
</p:sld>
</file>

<file path=ppt/theme/theme1.xml><?xml version="1.0" encoding="utf-8"?>
<a:theme xmlns:a="http://schemas.openxmlformats.org/drawingml/2006/main" name="Gradle – Grupo Delta (Paradigmas UNLaM)">
  <a:themeElements>
    <a:clrScheme name="Gradle – Grupo Delta (Paradigmas UNLaM)">
      <a:dk1>
        <a:srgbClr val="14213D"/>
      </a:dk1>
      <a:lt1>
        <a:srgbClr val="F6F7F9"/>
      </a:lt1>
      <a:dk2>
        <a:srgbClr val="4D576C"/>
      </a:dk2>
      <a:lt2>
        <a:srgbClr val="DFE2E6"/>
      </a:lt2>
      <a:accent1>
        <a:srgbClr val="0B7A75"/>
      </a:accent1>
      <a:accent2>
        <a:srgbClr val="7FE0D2"/>
      </a:accent2>
      <a:accent3>
        <a:srgbClr val="A84A0A"/>
      </a:accent3>
      <a:accent4>
        <a:srgbClr val="9FB0CF"/>
      </a:accent4>
      <a:accent5>
        <a:srgbClr val="44506A"/>
      </a:accent5>
      <a:accent6>
        <a:srgbClr val="5A6580"/>
      </a:accent6>
      <a:hlink>
        <a:srgbClr val="0563C1"/>
      </a:hlink>
      <a:folHlink>
        <a:srgbClr val="954F72"/>
      </a:folHlink>
    </a:clrScheme>
    <a:fontScheme name="Gradle – Grupo Delta (Paradigmas UNLaM)">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TotalTime>
  <Words>2102</Words>
  <Application>Microsoft Office PowerPoint</Application>
  <PresentationFormat>Panorámica</PresentationFormat>
  <Paragraphs>176</Paragraphs>
  <Slides>14</Slides>
  <Notes>14</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14</vt:i4>
      </vt:variant>
    </vt:vector>
  </HeadingPairs>
  <TitlesOfParts>
    <vt:vector size="18" baseType="lpstr">
      <vt:lpstr>Arial</vt:lpstr>
      <vt:lpstr>DM Sans</vt:lpstr>
      <vt:lpstr>JetBrains Mono</vt:lpstr>
      <vt:lpstr>Gradle – Grupo Delta (Paradigmas UNLaM)</vt:lpstr>
      <vt:lpstr>Gradle</vt:lpstr>
      <vt:lpstr>Construir software a mano no escala</vt:lpstr>
      <vt:lpstr>Gradle orquesta, no compila</vt:lpstr>
      <vt:lpstr>Todo build pasa por tres fases</vt:lpstr>
      <vt:lpstr>El build es un grafo de objetos</vt:lpstr>
      <vt:lpstr>Plugins: programar contra interfaces</vt:lpstr>
      <vt:lpstr>Herencia: las tareas propias</vt:lpstr>
      <vt:lpstr>Declarativo con descenso a imperativo</vt:lpstr>
      <vt:lpstr>La misma dependencia, dos enfoques</vt:lpstr>
      <vt:lpstr>Ventajas y limitaciones</vt:lpstr>
      <vt:lpstr>Demo en vivo</vt:lpstr>
      <vt:lpstr>Qué vamos a ver</vt:lpstr>
      <vt:lpstr>Tres ideas para llevarse</vt:lpstr>
      <vt:lpstr>Muchas gracias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Gradle – Grupo Delta (Paradigmas UNLaM)</dc:title>
  <dc:subject/>
  <dc:creator/>
  <cp:lastModifiedBy>Keila Almada</cp:lastModifiedBy>
  <cp:revision>3</cp:revision>
  <dcterms:created xsi:type="dcterms:W3CDTF">2026-10-16T00:59:45Z</dcterms:created>
  <dcterms:modified xsi:type="dcterms:W3CDTF">2026-10-23T21:37:37Z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869b94a-4451-4543-bdff-7513bdbafb41_Enabled">
    <vt:lpwstr>true</vt:lpwstr>
  </property>
  <property fmtid="{D5CDD505-2E9C-101B-9397-08002B2CF9AE}" pid="3" name="MSIP_Label_b869b94a-4451-4543-bdff-7513bdbafb41_SetDate">
    <vt:lpwstr>2026-10-23T21:37:37Z</vt:lpwstr>
  </property>
  <property fmtid="{D5CDD505-2E9C-101B-9397-08002B2CF9AE}" pid="4" name="MSIP_Label_b869b94a-4451-4543-bdff-7513bdbafb41_Method">
    <vt:lpwstr>Standard</vt:lpwstr>
  </property>
  <property fmtid="{D5CDD505-2E9C-101B-9397-08002B2CF9AE}" pid="5" name="MSIP_Label_b869b94a-4451-4543-bdff-7513bdbafb41_Name">
    <vt:lpwstr>General</vt:lpwstr>
  </property>
  <property fmtid="{D5CDD505-2E9C-101B-9397-08002B2CF9AE}" pid="6" name="MSIP_Label_b869b94a-4451-4543-bdff-7513bdbafb41_SiteId">
    <vt:lpwstr>7fa88d8c-b752-45ac-9ddb-6fac354f6545</vt:lpwstr>
  </property>
  <property fmtid="{D5CDD505-2E9C-101B-9397-08002B2CF9AE}" pid="7" name="MSIP_Label_b869b94a-4451-4543-bdff-7513bdbafb41_ActionId">
    <vt:lpwstr>edede11d-09f4-4cb1-b178-42d38840b493</vt:lpwstr>
  </property>
  <property fmtid="{D5CDD505-2E9C-101B-9397-08002B2CF9AE}" pid="8" name="MSIP_Label_b869b94a-4451-4543-bdff-7513bdbafb41_ContentBits">
    <vt:lpwstr>0</vt:lpwstr>
  </property>
  <property fmtid="{D5CDD505-2E9C-101B-9397-08002B2CF9AE}" pid="9" name="MSIP_Label_b869b94a-4451-4543-bdff-7513bdbafb41_Tag">
    <vt:lpwstr>10, 3, 0, 1</vt:lpwstr>
  </property>
</Properties>
</file>